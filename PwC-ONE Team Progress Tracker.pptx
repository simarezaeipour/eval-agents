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Open Sans Medium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E9828B-B9CA-46F0-A7BE-30EB856F67AF}">
  <a:tblStyle styleId="{C5E9828B-B9CA-46F0-A7BE-30EB856F67A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OpenSansMedium-bold.fntdata"/><Relationship Id="rId25" Type="http://schemas.openxmlformats.org/officeDocument/2006/relationships/font" Target="fonts/OpenSansMedium-regular.fntdata"/><Relationship Id="rId28" Type="http://schemas.openxmlformats.org/officeDocument/2006/relationships/font" Target="fonts/OpenSansMedium-boldItalic.fntdata"/><Relationship Id="rId27" Type="http://schemas.openxmlformats.org/officeDocument/2006/relationships/font" Target="fonts/OpenSansMedium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OpenSans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Roboto-regular.fntdata"/><Relationship Id="rId16" Type="http://schemas.openxmlformats.org/officeDocument/2006/relationships/slide" Target="slides/slide9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9100cc53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9100cc53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9a12c43f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9a12c43f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Tarun help here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fb008ecd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fb008ecd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fb008ecd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fb008ecd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07277951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c07277951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fb008ecd2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dfb008ecd2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c5ad59c5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c5ad59c5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c5ad59c5d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c5ad59c5d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c5ad59c5d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c5ad59c5d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4" name="Google Shape;84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" name="Google Shape;85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/>
        </p:nvSpPr>
        <p:spPr>
          <a:xfrm>
            <a:off x="8730300" y="4958700"/>
            <a:ext cx="413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1000">
              <a:solidFill>
                <a:srgbClr val="22222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6570950" y="0"/>
            <a:ext cx="2573100" cy="326700"/>
          </a:xfrm>
          <a:prstGeom prst="rect">
            <a:avLst/>
          </a:prstGeom>
          <a:solidFill>
            <a:srgbClr val="EB08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PwC-ONE</a:t>
            </a:r>
            <a:endParaRPr b="1"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rive.google.com/drive/folders/11tkT7QobVxHTqViIafFBXkzzX8kJdUSO?usp=drive_lin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hyperlink" Target="https://docs.google.com/spreadsheets/d/17j2WSRoI-FuM9ce7tFxRSUaZB_f8AhaR/edit?usp=sharing&amp;ouid=102045082834673560113&amp;rtpof=true&amp;sd=true" TargetMode="External"/><Relationship Id="rId9" Type="http://schemas.openxmlformats.org/officeDocument/2006/relationships/image" Target="../media/image11.png"/><Relationship Id="rId5" Type="http://schemas.openxmlformats.org/officeDocument/2006/relationships/hyperlink" Target="https://forms.cloud.microsoft/pages/responsepage.aspx?id=Oac6DYrvQEygh4XEshk4QG1lFVmcFx9FkGjhku3TelxUODRRWjNJM05ZU1NGN1dWWVczNUhFREhKWi4u&amp;route=shorturl" TargetMode="External"/><Relationship Id="rId6" Type="http://schemas.openxmlformats.org/officeDocument/2006/relationships/hyperlink" Target="https://docs.google.com/presentation/d/11ypzDgsImmNWg09EgiKtQmHr3Qwyvfq9mXpHRyPyz1A/edit?usp=sharing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2b.dev/docs/sandbox-template#2-initialize-sandbox-templat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/>
        </p:nvSpPr>
        <p:spPr>
          <a:xfrm>
            <a:off x="675725" y="990875"/>
            <a:ext cx="39522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13CFF"/>
                </a:solidFill>
                <a:latin typeface="Open Sans"/>
                <a:ea typeface="Open Sans"/>
                <a:cs typeface="Open Sans"/>
                <a:sym typeface="Open Sans"/>
              </a:rPr>
              <a:t>Goal</a:t>
            </a:r>
            <a:r>
              <a:rPr lang="en" sz="1600">
                <a:solidFill>
                  <a:srgbClr val="313C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endParaRPr sz="1600">
              <a:solidFill>
                <a:srgbClr val="313CFF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Create a </a:t>
            </a:r>
            <a:r>
              <a:rPr b="1" lang="en">
                <a:solidFill>
                  <a:srgbClr val="EB088A"/>
                </a:solidFill>
                <a:latin typeface="Open Sans"/>
                <a:ea typeface="Open Sans"/>
                <a:cs typeface="Open Sans"/>
                <a:sym typeface="Open Sans"/>
              </a:rPr>
              <a:t>comprehensive, unified source of documentation</a:t>
            </a:r>
            <a:r>
              <a:rPr lang="en">
                <a:solidFill>
                  <a:srgbClr val="22222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that keeps all relevant details in one place for easy reference.</a:t>
            </a:r>
            <a:endParaRPr>
              <a:solidFill>
                <a:srgbClr val="22222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11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Open Sans Medium"/>
              <a:buChar char="●"/>
            </a:pPr>
            <a:r>
              <a:rPr b="1" lang="en" sz="1300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Update regularly: </a:t>
            </a:r>
            <a:r>
              <a:rPr lang="en" sz="1300">
                <a:solidFill>
                  <a:srgbClr val="22222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Teams should ensure this document remains up-to-date so all stakeholders have the latest information.</a:t>
            </a:r>
            <a:endParaRPr sz="1300">
              <a:solidFill>
                <a:srgbClr val="22222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1150" lvl="0" marL="4572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rgbClr val="222222"/>
              </a:buClr>
              <a:buSzPts val="1300"/>
              <a:buFont typeface="Open Sans Medium"/>
              <a:buChar char="●"/>
            </a:pPr>
            <a:r>
              <a:rPr b="1" lang="en" sz="1300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New templates </a:t>
            </a:r>
            <a:r>
              <a:rPr lang="en" sz="1300">
                <a:solidFill>
                  <a:srgbClr val="22222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will be provided by Vector throughout the project as needed (refer to table for more details).</a:t>
            </a:r>
            <a:endParaRPr sz="1300">
              <a:solidFill>
                <a:srgbClr val="22222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76200" y="148075"/>
            <a:ext cx="7934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000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Team </a:t>
            </a:r>
            <a:r>
              <a:rPr b="1" lang="en" sz="3000">
                <a:solidFill>
                  <a:srgbClr val="EC0088"/>
                </a:solidFill>
                <a:latin typeface="Open Sans"/>
                <a:ea typeface="Open Sans"/>
                <a:cs typeface="Open Sans"/>
                <a:sym typeface="Open Sans"/>
              </a:rPr>
              <a:t>Progress Tracker</a:t>
            </a:r>
            <a:endParaRPr b="1" sz="3000">
              <a:solidFill>
                <a:srgbClr val="EC008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714050" y="3485950"/>
            <a:ext cx="39522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2222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Teams are encouraged to customize or expand on the templates to better fit their specific project needs!</a:t>
            </a:r>
            <a:endParaRPr/>
          </a:p>
        </p:txBody>
      </p:sp>
      <p:sp>
        <p:nvSpPr>
          <p:cNvPr id="103" name="Google Shape;103;p25"/>
          <p:cNvSpPr/>
          <p:nvPr/>
        </p:nvSpPr>
        <p:spPr>
          <a:xfrm>
            <a:off x="5031675" y="1969200"/>
            <a:ext cx="3952200" cy="1633800"/>
          </a:xfrm>
          <a:prstGeom prst="roundRect">
            <a:avLst>
              <a:gd fmla="val 16667" name="adj"/>
            </a:avLst>
          </a:prstGeom>
          <a:solidFill>
            <a:srgbClr val="EB088A"/>
          </a:solidFill>
          <a:ln cap="flat" cmpd="sng" w="9525">
            <a:solidFill>
              <a:srgbClr val="D2533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access project resources, please go to our</a:t>
            </a: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200" u="sng">
                <a:solidFill>
                  <a:srgbClr val="2846FF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Participant hub</a:t>
            </a:r>
            <a:endParaRPr b="1" sz="1200">
              <a:solidFill>
                <a:srgbClr val="2846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​</a:t>
            </a:r>
            <a:endParaRPr b="0" i="0" sz="1000" u="none" cap="none" strike="noStrike">
              <a:solidFill>
                <a:srgbClr val="22222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 inquiries, please contact us at </a:t>
            </a:r>
            <a:r>
              <a:rPr b="0" i="0" lang="en" sz="1100" u="none" cap="none" strike="noStrike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​</a:t>
            </a:r>
            <a:endParaRPr b="0" i="0" sz="1100" u="none" cap="none" strike="noStrike">
              <a:solidFill>
                <a:srgbClr val="22222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" sz="1100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agentic-ai-evaluation-bootcamp2.0@vectorinstitute.ai</a:t>
            </a:r>
            <a:endParaRPr b="1" i="0" sz="12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32350" y="31600"/>
            <a:ext cx="3561600" cy="5075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073" y="12305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6"/>
          <p:cNvSpPr/>
          <p:nvPr/>
        </p:nvSpPr>
        <p:spPr>
          <a:xfrm>
            <a:off x="379817" y="9561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A7EA4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105497" y="397370"/>
            <a:ext cx="105150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/>
          <p:nvPr/>
        </p:nvSpPr>
        <p:spPr>
          <a:xfrm>
            <a:off x="142073" y="397370"/>
            <a:ext cx="97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1202777" y="397370"/>
            <a:ext cx="105150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6"/>
          <p:cNvSpPr/>
          <p:nvPr/>
        </p:nvSpPr>
        <p:spPr>
          <a:xfrm>
            <a:off x="1239353" y="397370"/>
            <a:ext cx="97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 Address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6"/>
          <p:cNvSpPr/>
          <p:nvPr/>
        </p:nvSpPr>
        <p:spPr>
          <a:xfrm>
            <a:off x="105497" y="625970"/>
            <a:ext cx="1051500" cy="43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Mark 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Oppenheim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6"/>
          <p:cNvSpPr/>
          <p:nvPr/>
        </p:nvSpPr>
        <p:spPr>
          <a:xfrm>
            <a:off x="1202777" y="625970"/>
            <a:ext cx="1051500" cy="43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Markoppenheim@gmail.com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/>
          <p:nvPr/>
        </p:nvSpPr>
        <p:spPr>
          <a:xfrm>
            <a:off x="105497" y="1101458"/>
            <a:ext cx="1051500" cy="4389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Evelyn 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Park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6"/>
          <p:cNvSpPr/>
          <p:nvPr/>
        </p:nvSpPr>
        <p:spPr>
          <a:xfrm>
            <a:off x="1202777" y="1101458"/>
            <a:ext cx="1051500" cy="4389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50"/>
              <a:buFont typeface="Calibri"/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evelynpark0504@gmail.com</a:t>
            </a:r>
            <a:endParaRPr i="1" sz="750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6"/>
          <p:cNvSpPr/>
          <p:nvPr/>
        </p:nvSpPr>
        <p:spPr>
          <a:xfrm>
            <a:off x="105497" y="1576946"/>
            <a:ext cx="1051500" cy="43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Cameron 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Duffy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6"/>
          <p:cNvSpPr/>
          <p:nvPr/>
        </p:nvSpPr>
        <p:spPr>
          <a:xfrm>
            <a:off x="1202777" y="1576946"/>
            <a:ext cx="1051500" cy="43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cameron55duffy@gmail.com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6"/>
          <p:cNvSpPr/>
          <p:nvPr/>
        </p:nvSpPr>
        <p:spPr>
          <a:xfrm>
            <a:off x="105497" y="2052434"/>
            <a:ext cx="1051500" cy="4389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Nabila 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Oubouchou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6"/>
          <p:cNvSpPr/>
          <p:nvPr/>
        </p:nvSpPr>
        <p:spPr>
          <a:xfrm>
            <a:off x="1202777" y="2052434"/>
            <a:ext cx="1051500" cy="4389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Nabila.oubouchou@gmail.com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6"/>
          <p:cNvSpPr/>
          <p:nvPr/>
        </p:nvSpPr>
        <p:spPr>
          <a:xfrm>
            <a:off x="105497" y="2527922"/>
            <a:ext cx="1051500" cy="43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Justin Cho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6"/>
          <p:cNvSpPr/>
          <p:nvPr/>
        </p:nvSpPr>
        <p:spPr>
          <a:xfrm>
            <a:off x="1202777" y="2527922"/>
            <a:ext cx="1051500" cy="43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justincho0315@gmail.com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26"/>
          <p:cNvGrpSpPr/>
          <p:nvPr/>
        </p:nvGrpSpPr>
        <p:grpSpPr>
          <a:xfrm>
            <a:off x="2254151" y="3511362"/>
            <a:ext cx="1280216" cy="539222"/>
            <a:chOff x="3018645" y="3511432"/>
            <a:chExt cx="1737300" cy="914400"/>
          </a:xfrm>
        </p:grpSpPr>
        <p:sp>
          <p:nvSpPr>
            <p:cNvPr id="126" name="Google Shape;126;p26"/>
            <p:cNvSpPr/>
            <p:nvPr/>
          </p:nvSpPr>
          <p:spPr>
            <a:xfrm>
              <a:off x="3018645" y="3511432"/>
              <a:ext cx="1737300" cy="914400"/>
            </a:xfrm>
            <a:prstGeom prst="rect">
              <a:avLst/>
            </a:prstGeom>
            <a:solidFill>
              <a:srgbClr val="FEF3C7"/>
            </a:solidFill>
            <a:ln cap="flat" cmpd="sng" w="9525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6"/>
            <p:cNvSpPr/>
            <p:nvPr/>
          </p:nvSpPr>
          <p:spPr>
            <a:xfrm>
              <a:off x="3110084" y="3566306"/>
              <a:ext cx="15729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97706"/>
                </a:buClr>
                <a:buSzPts val="850"/>
                <a:buFont typeface="Calibri"/>
                <a:buNone/>
              </a:pPr>
              <a:r>
                <a:rPr b="1" i="0" lang="en" sz="850" u="none" cap="none" strike="noStrike">
                  <a:solidFill>
                    <a:srgbClr val="D97706"/>
                  </a:solidFill>
                  <a:latin typeface="Calibri"/>
                  <a:ea typeface="Calibri"/>
                  <a:cs typeface="Calibri"/>
                  <a:sym typeface="Calibri"/>
                </a:rPr>
                <a:t>Touchpoint 1</a:t>
              </a:r>
              <a:endParaRPr b="0" i="0" sz="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6"/>
            <p:cNvSpPr/>
            <p:nvPr/>
          </p:nvSpPr>
          <p:spPr>
            <a:xfrm>
              <a:off x="3110085" y="3785752"/>
              <a:ext cx="15546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800"/>
                <a:buFont typeface="Calibri"/>
                <a:buNone/>
              </a:pPr>
              <a:r>
                <a:rPr b="0" i="0" lang="en" sz="80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Schedule with facilitator</a:t>
              </a:r>
              <a:r>
                <a:rPr lang="en" sz="800"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0" i="0" lang="en" sz="80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June 8–26</a:t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6"/>
            <p:cNvSpPr/>
            <p:nvPr/>
          </p:nvSpPr>
          <p:spPr>
            <a:xfrm>
              <a:off x="3110085" y="4020484"/>
              <a:ext cx="1554600" cy="341400"/>
            </a:xfrm>
            <a:prstGeom prst="rect">
              <a:avLst/>
            </a:prstGeom>
            <a:solidFill>
              <a:srgbClr val="F7F9FC"/>
            </a:solidFill>
            <a:ln cap="flat" cmpd="sng" w="9525">
              <a:solidFill>
                <a:srgbClr val="D1D5DB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6"/>
            <p:cNvSpPr/>
            <p:nvPr/>
          </p:nvSpPr>
          <p:spPr>
            <a:xfrm>
              <a:off x="3129980" y="4027684"/>
              <a:ext cx="14616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850"/>
                <a:buFont typeface="Calibri"/>
                <a:buNone/>
              </a:pPr>
              <a:r>
                <a:rPr i="1" lang="en" sz="5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June 25, 2026 - 1 PM MST</a:t>
              </a:r>
              <a:endParaRPr b="0" i="0" sz="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26"/>
          <p:cNvSpPr/>
          <p:nvPr/>
        </p:nvSpPr>
        <p:spPr>
          <a:xfrm>
            <a:off x="3650666" y="397375"/>
            <a:ext cx="3634500" cy="2487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6"/>
          <p:cNvSpPr/>
          <p:nvPr/>
        </p:nvSpPr>
        <p:spPr>
          <a:xfrm>
            <a:off x="3642900" y="397375"/>
            <a:ext cx="3649800" cy="255900"/>
          </a:xfrm>
          <a:prstGeom prst="rect">
            <a:avLst/>
          </a:prstGeom>
          <a:solidFill>
            <a:srgbClr val="132944"/>
          </a:solidFill>
          <a:ln cap="flat" cmpd="sng" w="12700">
            <a:solidFill>
              <a:srgbClr val="1329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6"/>
          <p:cNvSpPr/>
          <p:nvPr/>
        </p:nvSpPr>
        <p:spPr>
          <a:xfrm>
            <a:off x="3720560" y="418715"/>
            <a:ext cx="34170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Evaluating an Agentic Financial Planning &amp; Forecasting System Using Historical Market Data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" name="Google Shape;134;p26"/>
          <p:cNvGrpSpPr/>
          <p:nvPr/>
        </p:nvGrpSpPr>
        <p:grpSpPr>
          <a:xfrm>
            <a:off x="3635441" y="686194"/>
            <a:ext cx="3657000" cy="1059228"/>
            <a:chOff x="3635464" y="686225"/>
            <a:chExt cx="3657000" cy="1024200"/>
          </a:xfrm>
        </p:grpSpPr>
        <p:sp>
          <p:nvSpPr>
            <p:cNvPr id="135" name="Google Shape;135;p26"/>
            <p:cNvSpPr/>
            <p:nvPr/>
          </p:nvSpPr>
          <p:spPr>
            <a:xfrm>
              <a:off x="3635464" y="686225"/>
              <a:ext cx="3657000" cy="1024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36" name="Google Shape;136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30861" y="797003"/>
              <a:ext cx="158995" cy="1606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26"/>
            <p:cNvSpPr/>
            <p:nvPr/>
          </p:nvSpPr>
          <p:spPr>
            <a:xfrm>
              <a:off x="3937554" y="753128"/>
              <a:ext cx="3259500" cy="24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97706"/>
                </a:buClr>
                <a:buSzPts val="950"/>
                <a:buFont typeface="Calibri"/>
                <a:buNone/>
              </a:pPr>
              <a:r>
                <a:rPr b="1" i="0" lang="en" sz="950" u="none" cap="none" strike="noStrike">
                  <a:solidFill>
                    <a:srgbClr val="D97706"/>
                  </a:solidFill>
                  <a:latin typeface="Calibri"/>
                  <a:ea typeface="Calibri"/>
                  <a:cs typeface="Calibri"/>
                  <a:sym typeface="Calibri"/>
                </a:rPr>
                <a:t>Business Motivation</a:t>
              </a:r>
              <a:endParaRPr b="0" i="0" sz="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6"/>
            <p:cNvSpPr/>
            <p:nvPr/>
          </p:nvSpPr>
          <p:spPr>
            <a:xfrm>
              <a:off x="3730848" y="994246"/>
              <a:ext cx="3466200" cy="641400"/>
            </a:xfrm>
            <a:prstGeom prst="rect">
              <a:avLst/>
            </a:prstGeom>
            <a:solidFill>
              <a:srgbClr val="F7F9FC"/>
            </a:solidFill>
            <a:ln cap="flat" cmpd="sng" w="9525">
              <a:solidFill>
                <a:srgbClr val="E5E7EB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6"/>
            <p:cNvSpPr/>
            <p:nvPr/>
          </p:nvSpPr>
          <p:spPr>
            <a:xfrm>
              <a:off x="3794446" y="1022757"/>
              <a:ext cx="33708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800"/>
                <a:buFont typeface="Calibri"/>
                <a:buNone/>
              </a:pPr>
              <a:r>
                <a:rPr i="1" lang="en"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Financial planning needs structured analysis and multi-step reasoning, which this agent is intended to support more reliably.</a:t>
              </a:r>
              <a:endParaRPr i="1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800"/>
                <a:buFont typeface="Calibri"/>
                <a:buNone/>
              </a:pPr>
              <a:r>
                <a:t/>
              </a:r>
              <a:endParaRPr i="1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800"/>
                <a:buFont typeface="Calibri"/>
                <a:buNone/>
              </a:pPr>
              <a:r>
                <a:rPr i="1" lang="en"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Poor performance can lead to misleading forecasts, unjustified conclusions, and higher decision risk.</a:t>
              </a:r>
              <a:endParaRPr i="1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26"/>
          <p:cNvGrpSpPr/>
          <p:nvPr/>
        </p:nvGrpSpPr>
        <p:grpSpPr>
          <a:xfrm>
            <a:off x="3634998" y="1790762"/>
            <a:ext cx="3656957" cy="1019309"/>
            <a:chOff x="6488795" y="1201938"/>
            <a:chExt cx="4206300" cy="876900"/>
          </a:xfrm>
        </p:grpSpPr>
        <p:sp>
          <p:nvSpPr>
            <p:cNvPr id="141" name="Google Shape;141;p26"/>
            <p:cNvSpPr/>
            <p:nvPr/>
          </p:nvSpPr>
          <p:spPr>
            <a:xfrm>
              <a:off x="6488795" y="1201938"/>
              <a:ext cx="4206300" cy="876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42" name="Google Shape;142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98518" y="1293376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26"/>
            <p:cNvSpPr/>
            <p:nvPr/>
          </p:nvSpPr>
          <p:spPr>
            <a:xfrm>
              <a:off x="6836262" y="1265944"/>
              <a:ext cx="37491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A7EA4"/>
                </a:buClr>
                <a:buSzPts val="950"/>
                <a:buFont typeface="Calibri"/>
                <a:buNone/>
              </a:pPr>
              <a:r>
                <a:rPr b="1" i="0" lang="en" sz="950" u="none" cap="none" strike="noStrike">
                  <a:solidFill>
                    <a:srgbClr val="0A7EA4"/>
                  </a:solidFill>
                  <a:latin typeface="Calibri"/>
                  <a:ea typeface="Calibri"/>
                  <a:cs typeface="Calibri"/>
                  <a:sym typeface="Calibri"/>
                </a:rPr>
                <a:t>Data Description</a:t>
              </a:r>
              <a:endParaRPr b="0" i="0" sz="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6"/>
            <p:cNvSpPr/>
            <p:nvPr/>
          </p:nvSpPr>
          <p:spPr>
            <a:xfrm>
              <a:off x="6598499" y="1476252"/>
              <a:ext cx="3986700" cy="548400"/>
            </a:xfrm>
            <a:prstGeom prst="rect">
              <a:avLst/>
            </a:prstGeom>
            <a:solidFill>
              <a:srgbClr val="F7F9FC"/>
            </a:solidFill>
            <a:ln cap="flat" cmpd="sng" w="9525">
              <a:solidFill>
                <a:srgbClr val="E5E7EB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6"/>
            <p:cNvSpPr/>
            <p:nvPr/>
          </p:nvSpPr>
          <p:spPr>
            <a:xfrm>
              <a:off x="6671652" y="1499331"/>
              <a:ext cx="3877200" cy="50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800"/>
                <a:buFont typeface="Calibri"/>
                <a:buNone/>
              </a:pPr>
              <a:r>
                <a:rPr i="1" lang="en" sz="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needed: </a:t>
              </a:r>
              <a:r>
                <a:rPr i="1" lang="en" sz="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Historical daily price data for NASDAQ-listed companies, providing multi-year time-series market data for agent-driven analysis and forecasting tasks.</a:t>
              </a:r>
              <a:endParaRPr i="1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800"/>
                <a:buFont typeface="Calibri"/>
                <a:buNone/>
              </a:pPr>
              <a:r>
                <a:t/>
              </a:r>
              <a:endParaRPr i="1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800"/>
                <a:buFont typeface="Calibri"/>
                <a:buNone/>
              </a:pPr>
              <a:r>
                <a:rPr i="1" lang="en" sz="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Dataset ID: </a:t>
              </a:r>
              <a:r>
                <a:rPr i="1" lang="en" sz="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23 — Open Dataset containing historical daily prices for all NASDAQ-listed companies (Kaggle).</a:t>
              </a:r>
              <a:endParaRPr i="1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800"/>
                <a:buFont typeface="Calibri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26"/>
          <p:cNvSpPr/>
          <p:nvPr/>
        </p:nvSpPr>
        <p:spPr>
          <a:xfrm>
            <a:off x="3635458" y="2855198"/>
            <a:ext cx="3657000" cy="1103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30855" y="2979299"/>
            <a:ext cx="158995" cy="16618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6"/>
          <p:cNvSpPr/>
          <p:nvPr/>
        </p:nvSpPr>
        <p:spPr>
          <a:xfrm>
            <a:off x="3937537" y="2924391"/>
            <a:ext cx="32595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A7EA4"/>
                </a:solidFill>
                <a:latin typeface="Calibri"/>
                <a:ea typeface="Calibri"/>
                <a:cs typeface="Calibri"/>
                <a:sym typeface="Calibri"/>
              </a:rPr>
              <a:t>Objectives &amp; Success Metrics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3730850" y="3181200"/>
            <a:ext cx="3466200" cy="7131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E5E7E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6"/>
          <p:cNvSpPr/>
          <p:nvPr/>
        </p:nvSpPr>
        <p:spPr>
          <a:xfrm>
            <a:off x="3794448" y="3212898"/>
            <a:ext cx="33708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i="1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Outcome: Benchmark task decomposition, analytical correctness, reasoning consistency, and robustness in financial forecasting workflows.</a:t>
            </a:r>
            <a:endParaRPr i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t/>
            </a:r>
            <a:endParaRPr i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i="1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Metrics: Task completion rate, correctness of analytical steps, logical consistency, and error recovery.</a:t>
            </a:r>
            <a:endParaRPr i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/>
          <p:nvPr/>
        </p:nvSpPr>
        <p:spPr>
          <a:xfrm>
            <a:off x="7334250" y="3278379"/>
            <a:ext cx="1744800" cy="1662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alibri"/>
              <a:buNone/>
            </a:pP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Minimum Goals (2–3 POC targets)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7334239" y="3455000"/>
            <a:ext cx="1744800" cy="5949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6"/>
          <p:cNvSpPr/>
          <p:nvPr/>
        </p:nvSpPr>
        <p:spPr>
          <a:xfrm>
            <a:off x="7365550" y="3518724"/>
            <a:ext cx="1659600" cy="539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i="1" lang="en" sz="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Completion &gt; 0.90</a:t>
            </a:r>
            <a:endParaRPr i="1"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i="1" lang="en" sz="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 Selection F1 &gt; 0.75</a:t>
            </a:r>
            <a:endParaRPr i="1"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i="1" lang="en" sz="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 Correctness &gt; 0.7</a:t>
            </a:r>
            <a:endParaRPr i="1"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i="1" lang="en" sz="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Numerical Correctness &gt; 0.65</a:t>
            </a:r>
            <a:endParaRPr i="1"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i="1" lang="en" sz="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Faithfulness &gt; 0.8</a:t>
            </a:r>
            <a:endParaRPr i="1"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i="1" lang="en" sz="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Plan-goal </a:t>
            </a:r>
            <a:r>
              <a:rPr i="1" lang="en" sz="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Alignment</a:t>
            </a:r>
            <a:r>
              <a:rPr i="1" lang="en" sz="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0.7</a:t>
            </a:r>
            <a:endParaRPr i="1"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7334275" y="4132970"/>
            <a:ext cx="1744800" cy="1662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alibri"/>
              <a:buNone/>
            </a:pP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Stretch Goals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6"/>
          <p:cNvSpPr/>
          <p:nvPr/>
        </p:nvSpPr>
        <p:spPr>
          <a:xfrm>
            <a:off x="7334250" y="4316015"/>
            <a:ext cx="1744800" cy="6183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6"/>
          <p:cNvSpPr/>
          <p:nvPr/>
        </p:nvSpPr>
        <p:spPr>
          <a:xfrm>
            <a:off x="7365575" y="4382250"/>
            <a:ext cx="1659600" cy="618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i="1" lang="en" sz="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Completion = 1</a:t>
            </a:r>
            <a:endParaRPr i="1"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i="1" lang="en" sz="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 Selection F1 &gt; 0.85</a:t>
            </a:r>
            <a:endParaRPr i="1"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i="1" lang="en" sz="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 Correctness &gt; 0.8</a:t>
            </a:r>
            <a:endParaRPr i="1"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i="1" lang="en" sz="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Numerical Correctness &gt; 0.75</a:t>
            </a:r>
            <a:endParaRPr i="1"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i="1" lang="en" sz="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Faithfulness &gt; 0.9</a:t>
            </a:r>
            <a:endParaRPr i="1"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i="1" lang="en" sz="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Plan-goal Alignment &gt; 0.8</a:t>
            </a:r>
            <a:endParaRPr i="1"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t/>
            </a:r>
            <a:endParaRPr i="1" sz="850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3635458" y="4003667"/>
            <a:ext cx="3657300" cy="1103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30835" y="4126873"/>
            <a:ext cx="159003" cy="18914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/>
          <p:nvPr/>
        </p:nvSpPr>
        <p:spPr>
          <a:xfrm>
            <a:off x="3937864" y="4082437"/>
            <a:ext cx="325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A7EA4"/>
                </a:solidFill>
                <a:latin typeface="Calibri"/>
                <a:ea typeface="Calibri"/>
                <a:cs typeface="Calibri"/>
                <a:sym typeface="Calibri"/>
              </a:rPr>
              <a:t>Agentic AI </a:t>
            </a:r>
            <a:r>
              <a:rPr b="1" lang="en" sz="950">
                <a:solidFill>
                  <a:srgbClr val="0A7EA4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b="1" i="0" lang="en" sz="950" u="none" cap="none" strike="noStrike">
                <a:solidFill>
                  <a:srgbClr val="0A7EA4"/>
                </a:solidFill>
                <a:latin typeface="Calibri"/>
                <a:ea typeface="Calibri"/>
                <a:cs typeface="Calibri"/>
                <a:sym typeface="Calibri"/>
              </a:rPr>
              <a:t> Description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6"/>
          <p:cNvSpPr/>
          <p:nvPr/>
        </p:nvSpPr>
        <p:spPr>
          <a:xfrm>
            <a:off x="3730875" y="4350451"/>
            <a:ext cx="3466500" cy="6855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E5E7E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6"/>
          <p:cNvSpPr/>
          <p:nvPr/>
        </p:nvSpPr>
        <p:spPr>
          <a:xfrm>
            <a:off x="3794476" y="4379306"/>
            <a:ext cx="33711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i="1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Pipeline: Inspired by Vector’s Data Analysis pipeline, implemented in PwC Canada’s own environment.</a:t>
            </a:r>
            <a:endParaRPr i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t/>
            </a:r>
            <a:endParaRPr i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i="1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Actions: Process forecasting queries, retrieve stock data, run analysis tools, and generate explainable structured outputs.</a:t>
            </a:r>
            <a:endParaRPr i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" name="Google Shape;162;p26"/>
          <p:cNvGrpSpPr/>
          <p:nvPr/>
        </p:nvGrpSpPr>
        <p:grpSpPr>
          <a:xfrm>
            <a:off x="2254151" y="4082437"/>
            <a:ext cx="1280216" cy="539222"/>
            <a:chOff x="3018645" y="3511432"/>
            <a:chExt cx="1737300" cy="914400"/>
          </a:xfrm>
        </p:grpSpPr>
        <p:sp>
          <p:nvSpPr>
            <p:cNvPr id="163" name="Google Shape;163;p26"/>
            <p:cNvSpPr/>
            <p:nvPr/>
          </p:nvSpPr>
          <p:spPr>
            <a:xfrm>
              <a:off x="3018645" y="3511432"/>
              <a:ext cx="1737300" cy="914400"/>
            </a:xfrm>
            <a:prstGeom prst="rect">
              <a:avLst/>
            </a:prstGeom>
            <a:solidFill>
              <a:srgbClr val="FEF3C7"/>
            </a:solidFill>
            <a:ln cap="flat" cmpd="sng" w="9525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6"/>
            <p:cNvSpPr/>
            <p:nvPr/>
          </p:nvSpPr>
          <p:spPr>
            <a:xfrm>
              <a:off x="3110084" y="3566306"/>
              <a:ext cx="15729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97706"/>
                </a:buClr>
                <a:buSzPts val="850"/>
                <a:buFont typeface="Calibri"/>
                <a:buNone/>
              </a:pPr>
              <a:r>
                <a:rPr b="1" i="0" lang="en" sz="850" u="none" cap="none" strike="noStrike">
                  <a:solidFill>
                    <a:srgbClr val="D97706"/>
                  </a:solidFill>
                  <a:latin typeface="Calibri"/>
                  <a:ea typeface="Calibri"/>
                  <a:cs typeface="Calibri"/>
                  <a:sym typeface="Calibri"/>
                </a:rPr>
                <a:t>Touchpoint </a:t>
              </a:r>
              <a:r>
                <a:rPr b="1" lang="en" sz="850">
                  <a:solidFill>
                    <a:srgbClr val="D97706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6"/>
            <p:cNvSpPr/>
            <p:nvPr/>
          </p:nvSpPr>
          <p:spPr>
            <a:xfrm>
              <a:off x="3110085" y="3785752"/>
              <a:ext cx="15546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800"/>
                <a:buFont typeface="Calibri"/>
                <a:buNone/>
              </a:pPr>
              <a:r>
                <a:rPr b="0" i="0" lang="en" sz="80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Schedule with facilitator</a:t>
              </a:r>
              <a:r>
                <a:rPr lang="en" sz="800"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0" i="0" lang="en" sz="80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June 8–26</a:t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26"/>
            <p:cNvSpPr/>
            <p:nvPr/>
          </p:nvSpPr>
          <p:spPr>
            <a:xfrm>
              <a:off x="3110085" y="4020484"/>
              <a:ext cx="1554600" cy="341400"/>
            </a:xfrm>
            <a:prstGeom prst="rect">
              <a:avLst/>
            </a:prstGeom>
            <a:solidFill>
              <a:srgbClr val="F7F9FC"/>
            </a:solidFill>
            <a:ln cap="flat" cmpd="sng" w="9525">
              <a:solidFill>
                <a:srgbClr val="D1D5DB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6"/>
            <p:cNvSpPr/>
            <p:nvPr/>
          </p:nvSpPr>
          <p:spPr>
            <a:xfrm>
              <a:off x="3129980" y="4027684"/>
              <a:ext cx="14616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850"/>
                <a:buFont typeface="Calibri"/>
                <a:buNone/>
              </a:pPr>
              <a:r>
                <a:rPr i="1" lang="en" sz="5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June 29, 2026 - 12 PM MST</a:t>
              </a:r>
              <a:endParaRPr b="0" i="0" sz="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26"/>
          <p:cNvGrpSpPr/>
          <p:nvPr/>
        </p:nvGrpSpPr>
        <p:grpSpPr>
          <a:xfrm>
            <a:off x="71752" y="3511378"/>
            <a:ext cx="2151061" cy="1559927"/>
            <a:chOff x="105500" y="3078825"/>
            <a:chExt cx="2903700" cy="1615500"/>
          </a:xfrm>
        </p:grpSpPr>
        <p:sp>
          <p:nvSpPr>
            <p:cNvPr id="169" name="Google Shape;169;p26"/>
            <p:cNvSpPr/>
            <p:nvPr/>
          </p:nvSpPr>
          <p:spPr>
            <a:xfrm>
              <a:off x="105500" y="3078825"/>
              <a:ext cx="2903700" cy="1615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6"/>
            <p:cNvSpPr/>
            <p:nvPr/>
          </p:nvSpPr>
          <p:spPr>
            <a:xfrm>
              <a:off x="190170" y="3092943"/>
              <a:ext cx="27432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A7EA4"/>
                </a:buClr>
                <a:buSzPts val="1000"/>
                <a:buFont typeface="Calibri"/>
                <a:buNone/>
              </a:pPr>
              <a:r>
                <a:rPr b="1" i="0" lang="en" sz="1000" u="none" cap="none" strike="noStrike">
                  <a:solidFill>
                    <a:srgbClr val="0A7EA4"/>
                  </a:solidFill>
                  <a:latin typeface="Calibri"/>
                  <a:ea typeface="Calibri"/>
                  <a:cs typeface="Calibri"/>
                  <a:sym typeface="Calibri"/>
                </a:rPr>
                <a:t>Company &amp; Vector Oversight</a:t>
              </a:r>
              <a:endPara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6"/>
            <p:cNvSpPr/>
            <p:nvPr/>
          </p:nvSpPr>
          <p:spPr>
            <a:xfrm>
              <a:off x="144450" y="3306767"/>
              <a:ext cx="1097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850"/>
                <a:buFont typeface="Calibri"/>
                <a:buNone/>
              </a:pPr>
              <a:r>
                <a:rPr b="1" i="0" lang="en" sz="85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Biz Sponsor:</a:t>
              </a:r>
              <a:endParaRPr b="0" i="0" sz="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6"/>
            <p:cNvSpPr/>
            <p:nvPr/>
          </p:nvSpPr>
          <p:spPr>
            <a:xfrm>
              <a:off x="144450" y="3654239"/>
              <a:ext cx="1097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850"/>
                <a:buFont typeface="Calibri"/>
                <a:buNone/>
              </a:pPr>
              <a:r>
                <a:rPr b="1" i="0" lang="en" sz="85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Company PoC:</a:t>
              </a:r>
              <a:endParaRPr b="0" i="0" sz="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1260018" y="3690815"/>
              <a:ext cx="1691700" cy="219600"/>
            </a:xfrm>
            <a:prstGeom prst="rect">
              <a:avLst/>
            </a:prstGeom>
            <a:solidFill>
              <a:srgbClr val="F7F9FC"/>
            </a:solidFill>
            <a:ln cap="flat" cmpd="sng" w="9525">
              <a:solidFill>
                <a:srgbClr val="D1D5DB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Calibri"/>
                  <a:ea typeface="Calibri"/>
                  <a:cs typeface="Calibri"/>
                  <a:sym typeface="Calibri"/>
                </a:rPr>
                <a:t>Jaswinder Narain</a:t>
              </a:r>
              <a:endParaRPr sz="8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144450" y="4001711"/>
              <a:ext cx="1097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850"/>
                <a:buFont typeface="Calibri"/>
                <a:buNone/>
              </a:pPr>
              <a:r>
                <a:rPr b="1" lang="en" sz="850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Vector Project</a:t>
              </a:r>
              <a:r>
                <a:rPr b="1" i="0" lang="en" sz="85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 Facilitator:</a:t>
              </a:r>
              <a:endParaRPr b="0" i="0" sz="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1260018" y="4038287"/>
              <a:ext cx="1691700" cy="219600"/>
            </a:xfrm>
            <a:prstGeom prst="rect">
              <a:avLst/>
            </a:prstGeom>
            <a:solidFill>
              <a:srgbClr val="F7F9FC"/>
            </a:solidFill>
            <a:ln cap="flat" cmpd="sng" w="9525">
              <a:solidFill>
                <a:srgbClr val="D1D5DB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Calibri"/>
                  <a:ea typeface="Calibri"/>
                  <a:cs typeface="Calibri"/>
                  <a:sym typeface="Calibri"/>
                </a:rPr>
                <a:t>Tarun Joseph</a:t>
              </a:r>
              <a:endParaRPr sz="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144450" y="4349183"/>
              <a:ext cx="1097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850"/>
                <a:buFont typeface="Calibri"/>
                <a:buNone/>
              </a:pPr>
              <a:r>
                <a:rPr b="1" lang="en" sz="850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Vector Technical</a:t>
              </a:r>
              <a:r>
                <a:rPr b="1" i="0" lang="en" sz="85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 Facilitator:</a:t>
              </a:r>
              <a:endParaRPr b="0" i="0" sz="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6"/>
            <p:cNvSpPr/>
            <p:nvPr/>
          </p:nvSpPr>
          <p:spPr>
            <a:xfrm>
              <a:off x="1260018" y="4385759"/>
              <a:ext cx="1691700" cy="219600"/>
            </a:xfrm>
            <a:prstGeom prst="rect">
              <a:avLst/>
            </a:prstGeom>
            <a:solidFill>
              <a:srgbClr val="F7F9FC"/>
            </a:solidFill>
            <a:ln cap="flat" cmpd="sng" w="9525">
              <a:solidFill>
                <a:srgbClr val="D1D5DB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Calibri"/>
                  <a:ea typeface="Calibri"/>
                  <a:cs typeface="Calibri"/>
                  <a:sym typeface="Calibri"/>
                </a:rPr>
                <a:t>Sara Ketabi</a:t>
              </a:r>
              <a:endParaRPr sz="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26"/>
          <p:cNvSpPr/>
          <p:nvPr/>
        </p:nvSpPr>
        <p:spPr>
          <a:xfrm>
            <a:off x="932319" y="3773716"/>
            <a:ext cx="1253100" cy="2121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Bahar Sateli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26"/>
          <p:cNvGrpSpPr/>
          <p:nvPr/>
        </p:nvGrpSpPr>
        <p:grpSpPr>
          <a:xfrm>
            <a:off x="7333950" y="1793897"/>
            <a:ext cx="1745011" cy="1410330"/>
            <a:chOff x="5852157" y="2606050"/>
            <a:chExt cx="2123400" cy="1059602"/>
          </a:xfrm>
        </p:grpSpPr>
        <p:sp>
          <p:nvSpPr>
            <p:cNvPr id="180" name="Google Shape;180;p26"/>
            <p:cNvSpPr/>
            <p:nvPr/>
          </p:nvSpPr>
          <p:spPr>
            <a:xfrm>
              <a:off x="5852158" y="2606052"/>
              <a:ext cx="2123400" cy="1059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6"/>
            <p:cNvSpPr/>
            <p:nvPr/>
          </p:nvSpPr>
          <p:spPr>
            <a:xfrm>
              <a:off x="5852157" y="2606050"/>
              <a:ext cx="2123400" cy="36600"/>
            </a:xfrm>
            <a:prstGeom prst="rect">
              <a:avLst/>
            </a:prstGeom>
            <a:solidFill>
              <a:srgbClr val="00B4A6"/>
            </a:solidFill>
            <a:ln cap="flat" cmpd="sng" w="12700">
              <a:solidFill>
                <a:srgbClr val="00B4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5948683" y="2651769"/>
              <a:ext cx="1930500" cy="1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B4A6"/>
                </a:buClr>
                <a:buSzPts val="1000"/>
                <a:buFont typeface="Calibri"/>
                <a:buNone/>
              </a:pPr>
              <a:r>
                <a:rPr b="1" i="0" lang="en" sz="1000" u="none" cap="none" strike="noStrike">
                  <a:solidFill>
                    <a:srgbClr val="00B4A6"/>
                  </a:solidFill>
                  <a:latin typeface="Calibri"/>
                  <a:ea typeface="Calibri"/>
                  <a:cs typeface="Calibri"/>
                  <a:sym typeface="Calibri"/>
                </a:rPr>
                <a:t>Pipeline Selection  ✓ one</a:t>
              </a:r>
              <a:endPara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5932652" y="2814322"/>
              <a:ext cx="119400" cy="135000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9CA3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6098223" y="2806831"/>
              <a:ext cx="1854000" cy="1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850"/>
                <a:buFont typeface="Calibri"/>
                <a:buNone/>
              </a:pPr>
              <a:r>
                <a:rPr b="0" i="0" lang="en" sz="85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Existing system (built in Vector's env.)</a:t>
              </a:r>
              <a:endParaRPr b="0" i="0" sz="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5932652" y="2980260"/>
              <a:ext cx="119400" cy="135000"/>
            </a:xfrm>
            <a:prstGeom prst="rect">
              <a:avLst/>
            </a:prstGeom>
            <a:solidFill>
              <a:schemeClr val="lt1"/>
            </a:solidFill>
            <a:ln cap="flat" cmpd="sng" w="10150">
              <a:solidFill>
                <a:srgbClr val="9CA3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6098223" y="2972769"/>
              <a:ext cx="1854000" cy="1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850"/>
                <a:buFont typeface="Calibri"/>
                <a:buNone/>
              </a:pPr>
              <a:r>
                <a:rPr b="0" i="0" lang="en" sz="85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Question Answering (RAG / web-search)</a:t>
              </a:r>
              <a:endParaRPr b="0" i="0" sz="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6098223" y="3138707"/>
              <a:ext cx="1854000" cy="1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850"/>
                <a:buFont typeface="Calibri"/>
                <a:buNone/>
              </a:pPr>
              <a:r>
                <a:rPr b="0" i="0" lang="en" sz="85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Data Analysis &amp; Report Generation</a:t>
              </a:r>
              <a:endParaRPr b="0" i="0" sz="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5932652" y="3312126"/>
              <a:ext cx="119400" cy="135000"/>
            </a:xfrm>
            <a:prstGeom prst="rect">
              <a:avLst/>
            </a:prstGeom>
            <a:solidFill>
              <a:schemeClr val="lt1"/>
            </a:solidFill>
            <a:ln cap="flat" cmpd="sng" w="10150">
              <a:solidFill>
                <a:srgbClr val="9CA3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B4A6"/>
                </a:buClr>
                <a:buSzPts val="1000"/>
                <a:buFont typeface="Calibri"/>
                <a:buNone/>
              </a:pPr>
              <a:r>
                <a:rPr b="1" lang="en" sz="1000">
                  <a:solidFill>
                    <a:srgbClr val="00B4A6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6098223" y="3304635"/>
              <a:ext cx="1854000" cy="1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850"/>
                <a:buFont typeface="Calibri"/>
                <a:buNone/>
              </a:pPr>
              <a:r>
                <a:rPr b="0" i="0" lang="en" sz="85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Investigation, Triage &amp; Case Mgmt</a:t>
              </a:r>
              <a:endParaRPr b="0" i="0" sz="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5932652" y="3478040"/>
              <a:ext cx="119400" cy="135000"/>
            </a:xfrm>
            <a:prstGeom prst="rect">
              <a:avLst/>
            </a:prstGeom>
            <a:solidFill>
              <a:srgbClr val="16A34A"/>
            </a:solidFill>
            <a:ln cap="flat" cmpd="sng" w="10150">
              <a:solidFill>
                <a:srgbClr val="9CA3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6098223" y="3470550"/>
              <a:ext cx="1854000" cy="1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850"/>
                <a:buFont typeface="Calibri"/>
                <a:buNone/>
              </a:pPr>
              <a:r>
                <a:rPr b="0" i="0" lang="en" sz="85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Own company infrastructure</a:t>
              </a:r>
              <a:endParaRPr b="0" i="0" sz="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5932652" y="3146197"/>
              <a:ext cx="119400" cy="135000"/>
            </a:xfrm>
            <a:prstGeom prst="rect">
              <a:avLst/>
            </a:prstGeom>
            <a:solidFill>
              <a:schemeClr val="lt1"/>
            </a:solidFill>
            <a:ln cap="flat" cmpd="sng" w="10150">
              <a:solidFill>
                <a:srgbClr val="9CA3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" name="Google Shape;193;p26"/>
          <p:cNvGrpSpPr/>
          <p:nvPr/>
        </p:nvGrpSpPr>
        <p:grpSpPr>
          <a:xfrm>
            <a:off x="2300082" y="397370"/>
            <a:ext cx="1234500" cy="2569452"/>
            <a:chOff x="2300082" y="397370"/>
            <a:chExt cx="1234500" cy="2569452"/>
          </a:xfrm>
        </p:grpSpPr>
        <p:sp>
          <p:nvSpPr>
            <p:cNvPr id="194" name="Google Shape;194;p26"/>
            <p:cNvSpPr/>
            <p:nvPr/>
          </p:nvSpPr>
          <p:spPr>
            <a:xfrm>
              <a:off x="2300082" y="397370"/>
              <a:ext cx="1234500" cy="228600"/>
            </a:xfrm>
            <a:prstGeom prst="rect">
              <a:avLst/>
            </a:prstGeom>
            <a:solidFill>
              <a:srgbClr val="0D1F3C"/>
            </a:solidFill>
            <a:ln cap="flat" cmpd="sng" w="12700">
              <a:solidFill>
                <a:srgbClr val="0D1F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C9C9C"/>
                </a:solidFill>
              </a:endParaRPr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2336658" y="397370"/>
              <a:ext cx="1161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50"/>
                <a:buFont typeface="Calibri"/>
                <a:buNone/>
              </a:pPr>
              <a:r>
                <a:rPr b="1" i="0" lang="en" sz="750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Role</a:t>
              </a:r>
              <a:endParaRPr b="0" i="0" sz="750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2300082" y="625970"/>
              <a:ext cx="1234500" cy="43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C9C9C"/>
                </a:solidFill>
              </a:endParaRPr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2336658" y="644258"/>
              <a:ext cx="11613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0CACC"/>
                </a:buClr>
                <a:buSzPts val="750"/>
                <a:buFont typeface="Calibri"/>
                <a:buNone/>
              </a:pPr>
              <a:r>
                <a:rPr b="0" i="1" lang="en" sz="750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Team Lead ★</a:t>
              </a:r>
              <a:endParaRPr b="0" i="0" sz="75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2300082" y="1101458"/>
              <a:ext cx="1234500" cy="438900"/>
            </a:xfrm>
            <a:prstGeom prst="rect">
              <a:avLst/>
            </a:prstGeom>
            <a:solidFill>
              <a:srgbClr val="EDF1F5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C9C9C"/>
                </a:solidFill>
              </a:endParaRPr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2336658" y="1119746"/>
              <a:ext cx="11613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0CACC"/>
                </a:buClr>
                <a:buSzPts val="750"/>
                <a:buFont typeface="Calibri"/>
                <a:buNone/>
              </a:pPr>
              <a:r>
                <a:rPr b="0" i="1" lang="en" sz="750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Participant</a:t>
              </a:r>
              <a:endParaRPr b="0" i="0" sz="75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2300082" y="1576946"/>
              <a:ext cx="1234500" cy="43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C9C9C"/>
                </a:solidFill>
              </a:endParaRPr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2336658" y="1595234"/>
              <a:ext cx="11613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CACC"/>
                </a:buClr>
                <a:buSzPts val="750"/>
                <a:buFont typeface="Calibri"/>
                <a:buNone/>
              </a:pPr>
              <a:r>
                <a:rPr i="1" lang="en" sz="7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Participant</a:t>
              </a:r>
              <a:endParaRPr b="0" i="0" sz="750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2300082" y="2052434"/>
              <a:ext cx="1234500" cy="438900"/>
            </a:xfrm>
            <a:prstGeom prst="rect">
              <a:avLst/>
            </a:prstGeom>
            <a:solidFill>
              <a:srgbClr val="EDF1F5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C9C9C"/>
                </a:solidFill>
              </a:endParaRPr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2336658" y="2070722"/>
              <a:ext cx="11613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0CACC"/>
                </a:buClr>
                <a:buSzPts val="750"/>
                <a:buFont typeface="Calibri"/>
                <a:buNone/>
              </a:pPr>
              <a:r>
                <a:rPr b="0" i="1" lang="en" sz="750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Participant</a:t>
              </a:r>
              <a:endParaRPr b="0" i="0" sz="75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2300082" y="2527922"/>
              <a:ext cx="1234500" cy="43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C9C9C"/>
                </a:solidFill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2336658" y="2546210"/>
              <a:ext cx="11613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0CACC"/>
                </a:buClr>
                <a:buSzPts val="750"/>
                <a:buFont typeface="Calibri"/>
                <a:buNone/>
              </a:pPr>
              <a:r>
                <a:rPr b="0" i="1" lang="en" sz="750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Participant</a:t>
              </a:r>
              <a:endParaRPr b="0" i="0" sz="75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26"/>
          <p:cNvSpPr/>
          <p:nvPr/>
        </p:nvSpPr>
        <p:spPr>
          <a:xfrm>
            <a:off x="105497" y="625970"/>
            <a:ext cx="1051500" cy="43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Violet Khazali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105497" y="1101458"/>
            <a:ext cx="1051500" cy="4389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Kaiqi Cheng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105497" y="1576946"/>
            <a:ext cx="1051500" cy="43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Kanishk Patoliya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105497" y="2052434"/>
            <a:ext cx="1051500" cy="4389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Sima Rezaeipour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105497" y="2527922"/>
            <a:ext cx="1051500" cy="43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Uday Sharma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105522" y="3003434"/>
            <a:ext cx="1051500" cy="4389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Ujjwal Khanna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1202777" y="625970"/>
            <a:ext cx="1051500" cy="43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Violetkhazali@gmail.com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1202777" y="1101458"/>
            <a:ext cx="1051500" cy="4389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Catchkaiqi@gmail.com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1202777" y="1576946"/>
            <a:ext cx="1051500" cy="43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patoliyakanishk@gmail.com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1202777" y="2052434"/>
            <a:ext cx="1051500" cy="4389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Sima.rezaeipour@gmail.com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1202777" y="2527922"/>
            <a:ext cx="1051500" cy="43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Udaysharma0005@gmail.com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1202802" y="3003434"/>
            <a:ext cx="1051500" cy="4389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ujjwalkhanna7@gmail.com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8" name="Google Shape;218;p26"/>
          <p:cNvGrpSpPr/>
          <p:nvPr/>
        </p:nvGrpSpPr>
        <p:grpSpPr>
          <a:xfrm>
            <a:off x="2300082" y="397370"/>
            <a:ext cx="1234525" cy="3044964"/>
            <a:chOff x="2300082" y="397370"/>
            <a:chExt cx="1234525" cy="3044964"/>
          </a:xfrm>
        </p:grpSpPr>
        <p:sp>
          <p:nvSpPr>
            <p:cNvPr id="219" name="Google Shape;219;p26"/>
            <p:cNvSpPr/>
            <p:nvPr/>
          </p:nvSpPr>
          <p:spPr>
            <a:xfrm>
              <a:off x="2300082" y="397370"/>
              <a:ext cx="1234500" cy="228600"/>
            </a:xfrm>
            <a:prstGeom prst="rect">
              <a:avLst/>
            </a:prstGeom>
            <a:solidFill>
              <a:srgbClr val="0D1F3C"/>
            </a:solidFill>
            <a:ln cap="flat" cmpd="sng" w="12700">
              <a:solidFill>
                <a:srgbClr val="0D1F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C9C9C"/>
                </a:solidFill>
              </a:endParaRPr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2336658" y="397370"/>
              <a:ext cx="1161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50"/>
                <a:buFont typeface="Calibri"/>
                <a:buNone/>
              </a:pPr>
              <a:r>
                <a:rPr b="1" i="0" lang="en" sz="750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Role</a:t>
              </a:r>
              <a:endParaRPr b="0" i="0" sz="750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2300082" y="625970"/>
              <a:ext cx="1234500" cy="43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C9C9C"/>
                </a:solidFill>
              </a:endParaRPr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2336658" y="644258"/>
              <a:ext cx="11613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0CACC"/>
                </a:buClr>
                <a:buSzPts val="750"/>
                <a:buFont typeface="Calibri"/>
                <a:buNone/>
              </a:pPr>
              <a:r>
                <a:rPr b="0" i="1" lang="en" sz="750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Team Lead ★</a:t>
              </a:r>
              <a:endParaRPr b="0" i="0" sz="75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2300082" y="1101458"/>
              <a:ext cx="1234500" cy="438900"/>
            </a:xfrm>
            <a:prstGeom prst="rect">
              <a:avLst/>
            </a:prstGeom>
            <a:solidFill>
              <a:srgbClr val="EDF1F5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C9C9C"/>
                </a:solidFill>
              </a:endParaRPr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2336658" y="1119746"/>
              <a:ext cx="11613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0CACC"/>
                </a:buClr>
                <a:buSzPts val="750"/>
                <a:buFont typeface="Calibri"/>
                <a:buNone/>
              </a:pPr>
              <a:r>
                <a:rPr b="0" i="1" lang="en" sz="750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Participant</a:t>
              </a:r>
              <a:endParaRPr b="0" i="0" sz="75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2300082" y="1576946"/>
              <a:ext cx="1234500" cy="43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C9C9C"/>
                </a:solidFill>
              </a:endParaRPr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2336658" y="1595234"/>
              <a:ext cx="11613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0CACC"/>
                </a:buClr>
                <a:buSzPts val="750"/>
                <a:buFont typeface="Calibri"/>
                <a:buNone/>
              </a:pPr>
              <a:r>
                <a:rPr b="0" i="1" lang="en" sz="750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Participant</a:t>
              </a:r>
              <a:endParaRPr b="0" i="0" sz="75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2300082" y="2052434"/>
              <a:ext cx="1234500" cy="438900"/>
            </a:xfrm>
            <a:prstGeom prst="rect">
              <a:avLst/>
            </a:prstGeom>
            <a:solidFill>
              <a:srgbClr val="EDF1F5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C9C9C"/>
                </a:solidFill>
              </a:endParaRPr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2336658" y="2070722"/>
              <a:ext cx="11613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0CACC"/>
                </a:buClr>
                <a:buSzPts val="750"/>
                <a:buFont typeface="Calibri"/>
                <a:buNone/>
              </a:pPr>
              <a:r>
                <a:rPr b="0" i="1" lang="en" sz="750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Participant</a:t>
              </a:r>
              <a:endParaRPr b="0" i="0" sz="75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2300082" y="2527922"/>
              <a:ext cx="1234500" cy="43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C9C9C"/>
                </a:solidFill>
              </a:endParaRPr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2336658" y="2546210"/>
              <a:ext cx="11613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0CACC"/>
                </a:buClr>
                <a:buSzPts val="750"/>
                <a:buFont typeface="Calibri"/>
                <a:buNone/>
              </a:pPr>
              <a:r>
                <a:rPr b="0" i="1" lang="en" sz="750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Participant</a:t>
              </a:r>
              <a:endParaRPr b="0" i="0" sz="75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2300107" y="3003434"/>
              <a:ext cx="1234500" cy="438900"/>
            </a:xfrm>
            <a:prstGeom prst="rect">
              <a:avLst/>
            </a:prstGeom>
            <a:solidFill>
              <a:srgbClr val="EDF1F5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C9C9C"/>
                </a:solidFill>
              </a:endParaRPr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2336683" y="3021722"/>
              <a:ext cx="11613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0CACC"/>
                </a:buClr>
                <a:buSzPts val="750"/>
                <a:buFont typeface="Calibri"/>
                <a:buNone/>
              </a:pPr>
              <a:r>
                <a:rPr b="0" i="1" lang="en" sz="750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Participant</a:t>
              </a:r>
              <a:endParaRPr b="0" i="0" sz="75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/>
          <p:nvPr/>
        </p:nvSpPr>
        <p:spPr>
          <a:xfrm>
            <a:off x="64700" y="2415425"/>
            <a:ext cx="8799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Your Evaluation Approach — check what applies: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64700" y="2640503"/>
            <a:ext cx="2808600" cy="1371600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"/>
          <p:cNvSpPr/>
          <p:nvPr/>
        </p:nvSpPr>
        <p:spPr>
          <a:xfrm>
            <a:off x="177039" y="2731943"/>
            <a:ext cx="187500" cy="18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240" name="Google Shape;240;p27"/>
          <p:cNvSpPr/>
          <p:nvPr/>
        </p:nvSpPr>
        <p:spPr>
          <a:xfrm>
            <a:off x="420442" y="2695367"/>
            <a:ext cx="234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Heuristic-Based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177042" y="2938733"/>
            <a:ext cx="258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Rule-based checks, regex patterns, exact match scoring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Best for: structured outputs, deterministic tasks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177042" y="3194638"/>
            <a:ext cx="2583600" cy="74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"/>
          <p:cNvSpPr/>
          <p:nvPr/>
        </p:nvSpPr>
        <p:spPr>
          <a:xfrm>
            <a:off x="233200" y="3256675"/>
            <a:ext cx="24342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50"/>
              <a:buFont typeface="Calibri"/>
              <a:buNone/>
            </a:pPr>
            <a:r>
              <a:rPr lang="en" sz="750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Task completion: did the agent produce anything useable?</a:t>
            </a:r>
            <a:endParaRPr sz="750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50"/>
              <a:buFont typeface="Calibri"/>
              <a:buNone/>
            </a:pPr>
            <a:r>
              <a:rPr lang="en" sz="750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Tool Selection: Did the agent pick the right tools for the job?</a:t>
            </a:r>
            <a:endParaRPr sz="750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50"/>
              <a:buFont typeface="Calibri"/>
              <a:buNone/>
            </a:pPr>
            <a:r>
              <a:rPr lang="en" sz="750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NumericaL Correctness: Are the final numbers actually correct?</a:t>
            </a:r>
            <a:endParaRPr sz="750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50"/>
              <a:buFont typeface="Calibri"/>
              <a:buNone/>
            </a:pPr>
            <a:r>
              <a:rPr lang="en" sz="750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Argument Correctness: Even with the right tools, did it pass the right inputs?</a:t>
            </a:r>
            <a:endParaRPr sz="750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3060424" y="2640503"/>
            <a:ext cx="2808600" cy="1371600"/>
          </a:xfrm>
          <a:prstGeom prst="rect">
            <a:avLst/>
          </a:prstGeom>
          <a:solidFill>
            <a:srgbClr val="E8F4FA"/>
          </a:solidFill>
          <a:ln cap="flat" cmpd="sng" w="9525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7"/>
          <p:cNvSpPr/>
          <p:nvPr/>
        </p:nvSpPr>
        <p:spPr>
          <a:xfrm>
            <a:off x="3172763" y="2731943"/>
            <a:ext cx="187500" cy="18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246" name="Google Shape;246;p27"/>
          <p:cNvSpPr/>
          <p:nvPr/>
        </p:nvSpPr>
        <p:spPr>
          <a:xfrm>
            <a:off x="3416166" y="2695367"/>
            <a:ext cx="234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A7EA4"/>
                </a:solidFill>
                <a:latin typeface="Calibri"/>
                <a:ea typeface="Calibri"/>
                <a:cs typeface="Calibri"/>
                <a:sym typeface="Calibri"/>
              </a:rPr>
              <a:t>LLM-as-a-Judge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7"/>
          <p:cNvSpPr/>
          <p:nvPr/>
        </p:nvSpPr>
        <p:spPr>
          <a:xfrm>
            <a:off x="3172760" y="2938733"/>
            <a:ext cx="258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Another LLM scores response quality on defined rubric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Best for: open-ended, nuanced generation tasks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7"/>
          <p:cNvSpPr/>
          <p:nvPr/>
        </p:nvSpPr>
        <p:spPr>
          <a:xfrm>
            <a:off x="3172760" y="3194638"/>
            <a:ext cx="2583600" cy="74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7"/>
          <p:cNvSpPr/>
          <p:nvPr/>
        </p:nvSpPr>
        <p:spPr>
          <a:xfrm>
            <a:off x="3228930" y="3256672"/>
            <a:ext cx="24342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50"/>
              <a:buFont typeface="Calibri"/>
              <a:buNone/>
            </a:pPr>
            <a:r>
              <a:rPr lang="en" sz="750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Faithfulness: Did the agent make up numbers?</a:t>
            </a:r>
            <a:endParaRPr sz="750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50"/>
              <a:buFont typeface="Calibri"/>
              <a:buNone/>
            </a:pPr>
            <a:r>
              <a:rPr lang="en" sz="750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Plan-goal alignment: Does this plan actually try to answer what the user asked?</a:t>
            </a:r>
            <a:endParaRPr sz="750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6056147" y="2640503"/>
            <a:ext cx="2808600" cy="13716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7"/>
          <p:cNvSpPr/>
          <p:nvPr/>
        </p:nvSpPr>
        <p:spPr>
          <a:xfrm>
            <a:off x="6168487" y="2731943"/>
            <a:ext cx="187500" cy="18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7"/>
          <p:cNvSpPr/>
          <p:nvPr/>
        </p:nvSpPr>
        <p:spPr>
          <a:xfrm>
            <a:off x="6411890" y="2695367"/>
            <a:ext cx="234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Human-in-the-Loop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6168479" y="2938733"/>
            <a:ext cx="258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Domain expert review, spot-checks, labelling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Best for: high-stakes, early-stage validation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6168479" y="3194638"/>
            <a:ext cx="2583600" cy="74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7"/>
          <p:cNvSpPr/>
          <p:nvPr/>
        </p:nvSpPr>
        <p:spPr>
          <a:xfrm>
            <a:off x="6224649" y="3256672"/>
            <a:ext cx="24342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64700" y="4085252"/>
            <a:ext cx="4306500" cy="100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7"/>
          <p:cNvSpPr/>
          <p:nvPr/>
        </p:nvSpPr>
        <p:spPr>
          <a:xfrm>
            <a:off x="64700" y="4085252"/>
            <a:ext cx="4306500" cy="3660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7"/>
          <p:cNvSpPr/>
          <p:nvPr/>
        </p:nvSpPr>
        <p:spPr>
          <a:xfrm>
            <a:off x="205124" y="4121828"/>
            <a:ext cx="4025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A7EA4"/>
                </a:solidFill>
                <a:latin typeface="Calibri"/>
                <a:ea typeface="Calibri"/>
                <a:cs typeface="Calibri"/>
                <a:sym typeface="Calibri"/>
              </a:rPr>
              <a:t>Custom Metrics for Our Use Case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205124" y="4396147"/>
            <a:ext cx="4025400" cy="6219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7"/>
          <p:cNvSpPr/>
          <p:nvPr/>
        </p:nvSpPr>
        <p:spPr>
          <a:xfrm>
            <a:off x="280017" y="4451011"/>
            <a:ext cx="38757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4558285" y="4085252"/>
            <a:ext cx="4306500" cy="100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"/>
          <p:cNvSpPr/>
          <p:nvPr/>
        </p:nvSpPr>
        <p:spPr>
          <a:xfrm>
            <a:off x="4558285" y="4085252"/>
            <a:ext cx="4306500" cy="366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7"/>
          <p:cNvSpPr/>
          <p:nvPr/>
        </p:nvSpPr>
        <p:spPr>
          <a:xfrm>
            <a:off x="4698710" y="4121828"/>
            <a:ext cx="4025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Reference Implementation (from Bootcamp Repo)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7"/>
          <p:cNvSpPr/>
          <p:nvPr/>
        </p:nvSpPr>
        <p:spPr>
          <a:xfrm>
            <a:off x="4698710" y="4396147"/>
            <a:ext cx="4025400" cy="6219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7"/>
          <p:cNvSpPr/>
          <p:nvPr/>
        </p:nvSpPr>
        <p:spPr>
          <a:xfrm>
            <a:off x="4773603" y="4451011"/>
            <a:ext cx="38757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i="1" lang="en" sz="850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Samples on the github</a:t>
            </a:r>
            <a:endParaRPr b="0" i="0" sz="85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0" y="-3200"/>
            <a:ext cx="7934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3000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Learn Day</a:t>
            </a:r>
            <a:r>
              <a:rPr b="1" lang="en" sz="3000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3000">
                <a:solidFill>
                  <a:srgbClr val="EB088A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3000">
              <a:solidFill>
                <a:srgbClr val="EB088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27"/>
          <p:cNvSpPr/>
          <p:nvPr/>
        </p:nvSpPr>
        <p:spPr>
          <a:xfrm>
            <a:off x="35825" y="427826"/>
            <a:ext cx="8653200" cy="27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B08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EB088A"/>
                </a:solidFill>
              </a:rPr>
              <a:t>Team Readiness: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i="1" lang="en">
                <a:solidFill>
                  <a:schemeClr val="dk1"/>
                </a:solidFill>
              </a:rPr>
              <a:t>all participants have access to Coder, Team Workspace/tracker, &amp; Slack </a:t>
            </a:r>
            <a:endParaRPr i="1" sz="1400" u="none" cap="none" strike="noStrike">
              <a:solidFill>
                <a:schemeClr val="dk1"/>
              </a:solidFill>
            </a:endParaRPr>
          </a:p>
        </p:txBody>
      </p:sp>
      <p:pic>
        <p:nvPicPr>
          <p:cNvPr id="268" name="Google Shape;2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7400" y="850923"/>
            <a:ext cx="1526074" cy="169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173025" y="548825"/>
            <a:ext cx="85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A4"/>
              </a:buClr>
              <a:buSzPts val="850"/>
              <a:buFont typeface="Calibri"/>
              <a:buNone/>
            </a:pPr>
            <a:r>
              <a:rPr b="1" i="1" lang="en" sz="850" u="none" cap="none" strike="noStrike">
                <a:solidFill>
                  <a:srgbClr val="8896A4"/>
                </a:solidFill>
                <a:latin typeface="Calibri"/>
                <a:ea typeface="Calibri"/>
                <a:cs typeface="Calibri"/>
                <a:sym typeface="Calibri"/>
              </a:rPr>
              <a:t>Sketch your agent architecture and confirm your dataset below. This becomes your Build Day blueprint.</a:t>
            </a:r>
            <a:endParaRPr b="1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173025" y="843774"/>
            <a:ext cx="5303400" cy="3810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8"/>
          <p:cNvSpPr/>
          <p:nvPr/>
        </p:nvSpPr>
        <p:spPr>
          <a:xfrm>
            <a:off x="310185" y="881832"/>
            <a:ext cx="36576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A7EA4"/>
                </a:solidFill>
                <a:latin typeface="Calibri"/>
                <a:ea typeface="Calibri"/>
                <a:cs typeface="Calibri"/>
                <a:sym typeface="Calibri"/>
              </a:rPr>
              <a:t>Agent Architecture Diagram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310185" y="3079680"/>
            <a:ext cx="5029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50"/>
              <a:buFont typeface="Calibri"/>
              <a:buNone/>
            </a:pPr>
            <a:r>
              <a:rPr b="0" i="1" lang="en" sz="750" u="none" cap="none" strike="noStrike">
                <a:solidFill>
                  <a:srgbClr val="C0CACC"/>
                </a:solidFill>
                <a:latin typeface="Calibri"/>
                <a:ea typeface="Calibri"/>
                <a:cs typeface="Calibri"/>
                <a:sym typeface="Calibri"/>
              </a:rPr>
              <a:t>Replace scaffold with your actual architecture →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310180" y="3308040"/>
            <a:ext cx="4983300" cy="14964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8"/>
          <p:cNvSpPr/>
          <p:nvPr/>
        </p:nvSpPr>
        <p:spPr>
          <a:xfrm>
            <a:off x="448600" y="3365605"/>
            <a:ext cx="4706700" cy="1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AutoNum type="arabicPeriod"/>
            </a:pPr>
            <a:r>
              <a:rPr b="1" lang="en" sz="400">
                <a:solidFill>
                  <a:schemeClr val="dk1"/>
                </a:solidFill>
              </a:rPr>
              <a:t>Plan-and-Execute instead of ReAct</a:t>
            </a:r>
            <a:br>
              <a:rPr b="1" lang="en" sz="400">
                <a:solidFill>
                  <a:schemeClr val="dk1"/>
                </a:solidFill>
              </a:rPr>
            </a:br>
            <a:r>
              <a:rPr lang="en" sz="400">
                <a:solidFill>
                  <a:schemeClr val="dk1"/>
                </a:solidFill>
              </a:rPr>
              <a:t>The plan is an explicit artifact that can be evaluated directly using metrics such as Tool-F1, argument accuracy, and plan alignment.</a:t>
            </a:r>
            <a:endParaRPr sz="400">
              <a:solidFill>
                <a:schemeClr val="dk1"/>
              </a:solidFill>
            </a:endParaRPr>
          </a:p>
          <a:p>
            <a:pPr indent="-254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AutoNum type="arabicPeriod"/>
            </a:pPr>
            <a:r>
              <a:rPr b="1" lang="en" sz="400">
                <a:solidFill>
                  <a:schemeClr val="dk1"/>
                </a:solidFill>
              </a:rPr>
              <a:t>Deterministic executor (Python, not an LLM)</a:t>
            </a:r>
            <a:br>
              <a:rPr b="1" lang="en" sz="400">
                <a:solidFill>
                  <a:schemeClr val="dk1"/>
                </a:solidFill>
              </a:rPr>
            </a:br>
            <a:r>
              <a:rPr lang="en" sz="400">
                <a:solidFill>
                  <a:schemeClr val="dk1"/>
                </a:solidFill>
              </a:rPr>
              <a:t>Execution is deterministic, so any failures are attributable to tool usage rather than model randomness.</a:t>
            </a:r>
            <a:endParaRPr sz="400">
              <a:solidFill>
                <a:schemeClr val="dk1"/>
              </a:solidFill>
            </a:endParaRPr>
          </a:p>
          <a:p>
            <a:pPr indent="-254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AutoNum type="arabicPeriod"/>
            </a:pPr>
            <a:r>
              <a:rPr b="1" lang="en" sz="400">
                <a:solidFill>
                  <a:schemeClr val="dk1"/>
                </a:solidFill>
              </a:rPr>
              <a:t>Pydantic-enforced JSON outputs</a:t>
            </a:r>
            <a:br>
              <a:rPr b="1" lang="en" sz="400">
                <a:solidFill>
                  <a:schemeClr val="dk1"/>
                </a:solidFill>
              </a:rPr>
            </a:br>
            <a:r>
              <a:rPr lang="en" sz="400">
                <a:solidFill>
                  <a:schemeClr val="dk1"/>
                </a:solidFill>
              </a:rPr>
              <a:t>Structured outputs make evaluation straightforward without relying on regex or other brittle parsing methods.</a:t>
            </a:r>
            <a:endParaRPr sz="400">
              <a:solidFill>
                <a:schemeClr val="dk1"/>
              </a:solidFill>
            </a:endParaRPr>
          </a:p>
          <a:p>
            <a:pPr indent="-254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AutoNum type="arabicPeriod"/>
            </a:pPr>
            <a:r>
              <a:rPr b="1" lang="en" sz="400">
                <a:solidFill>
                  <a:schemeClr val="dk1"/>
                </a:solidFill>
              </a:rPr>
              <a:t>Five fixed tools</a:t>
            </a:r>
            <a:br>
              <a:rPr b="1" lang="en" sz="400">
                <a:solidFill>
                  <a:schemeClr val="dk1"/>
                </a:solidFill>
              </a:rPr>
            </a:br>
            <a:r>
              <a:rPr lang="en" sz="400">
                <a:solidFill>
                  <a:schemeClr val="dk1"/>
                </a:solidFill>
              </a:rPr>
              <a:t>Keeping the action space small makes Tool-F1 a meaningful metric. A larger toolset is left for future work.</a:t>
            </a:r>
            <a:endParaRPr sz="400">
              <a:solidFill>
                <a:schemeClr val="dk1"/>
              </a:solidFill>
            </a:endParaRPr>
          </a:p>
          <a:p>
            <a:pPr indent="-254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AutoNum type="arabicPeriod"/>
            </a:pPr>
            <a:r>
              <a:rPr b="1" lang="en" sz="400">
                <a:solidFill>
                  <a:schemeClr val="dk1"/>
                </a:solidFill>
              </a:rPr>
              <a:t>Step-ID references for tool arguments</a:t>
            </a:r>
            <a:br>
              <a:rPr b="1" lang="en" sz="400">
                <a:solidFill>
                  <a:schemeClr val="dk1"/>
                </a:solidFill>
              </a:rPr>
            </a:br>
            <a:r>
              <a:rPr lang="en" sz="400">
                <a:solidFill>
                  <a:schemeClr val="dk1"/>
                </a:solidFill>
              </a:rPr>
              <a:t>Tool calls reference outputs from previous steps instead of passing raw data, keeping the LLM out of the data path and avoiding issues such as truncated inputs.</a:t>
            </a:r>
            <a:endParaRPr sz="400">
              <a:solidFill>
                <a:schemeClr val="dk1"/>
              </a:solidFill>
            </a:endParaRPr>
          </a:p>
          <a:p>
            <a:pPr indent="-254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AutoNum type="arabicPeriod"/>
            </a:pPr>
            <a:r>
              <a:rPr b="1" lang="en" sz="400">
                <a:solidFill>
                  <a:schemeClr val="dk1"/>
                </a:solidFill>
              </a:rPr>
              <a:t>DuckDB over partitioned Parquet</a:t>
            </a:r>
            <a:br>
              <a:rPr b="1" lang="en" sz="400">
                <a:solidFill>
                  <a:schemeClr val="dk1"/>
                </a:solidFill>
              </a:rPr>
            </a:br>
            <a:r>
              <a:rPr lang="en" sz="400">
                <a:solidFill>
                  <a:schemeClr val="dk1"/>
                </a:solidFill>
              </a:rPr>
              <a:t>Provides fast local queries with minimal operational overhead through efficient columnar storage and partition pruning.</a:t>
            </a:r>
            <a:endParaRPr sz="400">
              <a:solidFill>
                <a:schemeClr val="dk1"/>
              </a:solidFill>
            </a:endParaRPr>
          </a:p>
          <a:p>
            <a:pPr indent="-254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AutoNum type="arabicPeriod"/>
            </a:pPr>
            <a:r>
              <a:rPr b="1" lang="en" sz="400">
                <a:solidFill>
                  <a:schemeClr val="dk1"/>
                </a:solidFill>
              </a:rPr>
              <a:t>Top-50 NASDAQ universe</a:t>
            </a:r>
            <a:br>
              <a:rPr b="1" lang="en" sz="400">
                <a:solidFill>
                  <a:schemeClr val="dk1"/>
                </a:solidFill>
              </a:rPr>
            </a:br>
            <a:r>
              <a:rPr lang="en" sz="400">
                <a:solidFill>
                  <a:schemeClr val="dk1"/>
                </a:solidFill>
              </a:rPr>
              <a:t>Limits the problem to a manageable scope, making gold-answer generation computationally feasible while keeping the evaluation well-defined.</a:t>
            </a:r>
            <a:endParaRPr sz="400">
              <a:solidFill>
                <a:schemeClr val="dk1"/>
              </a:solidFill>
            </a:endParaRPr>
          </a:p>
          <a:p>
            <a:pPr indent="-254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AutoNum type="arabicPeriod"/>
            </a:pPr>
            <a:r>
              <a:rPr b="1" lang="en" sz="400">
                <a:solidFill>
                  <a:schemeClr val="dk1"/>
                </a:solidFill>
              </a:rPr>
              <a:t>Plain Python dictionary for state management</a:t>
            </a:r>
            <a:br>
              <a:rPr b="1" lang="en" sz="400">
                <a:solidFill>
                  <a:schemeClr val="dk1"/>
                </a:solidFill>
              </a:rPr>
            </a:br>
            <a:r>
              <a:rPr lang="en" sz="400">
                <a:solidFill>
                  <a:schemeClr val="dk1"/>
                </a:solidFill>
              </a:rPr>
              <a:t>A simple dictionary is sufficient for the five-tool MVP and avoids unnecessary framework dependencies.</a:t>
            </a:r>
            <a:endParaRPr sz="400">
              <a:solidFill>
                <a:schemeClr val="dk1"/>
              </a:solidFill>
            </a:endParaRPr>
          </a:p>
          <a:p>
            <a:pPr indent="-254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AutoNum type="arabicPeriod"/>
            </a:pPr>
            <a:r>
              <a:rPr b="1" lang="en" sz="400">
                <a:solidFill>
                  <a:schemeClr val="dk1"/>
                </a:solidFill>
              </a:rPr>
              <a:t>JSONL trace (one record per run)</a:t>
            </a:r>
            <a:br>
              <a:rPr b="1" lang="en" sz="400">
                <a:solidFill>
                  <a:schemeClr val="dk1"/>
                </a:solidFill>
              </a:rPr>
            </a:br>
            <a:r>
              <a:rPr lang="en" sz="400">
                <a:solidFill>
                  <a:schemeClr val="dk1"/>
                </a:solidFill>
              </a:rPr>
              <a:t>Each execution is stored as a single JSONL record, making traces easy to inspect and analyze with tools like pandas.</a:t>
            </a:r>
            <a:endParaRPr sz="400">
              <a:solidFill>
                <a:schemeClr val="dk1"/>
              </a:solidFill>
            </a:endParaRPr>
          </a:p>
          <a:p>
            <a:pPr indent="-254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AutoNum type="arabicPeriod"/>
            </a:pPr>
            <a:r>
              <a:rPr b="1" lang="en" sz="400">
                <a:solidFill>
                  <a:schemeClr val="dk1"/>
                </a:solidFill>
              </a:rPr>
              <a:t>Single-shot baseline</a:t>
            </a:r>
            <a:br>
              <a:rPr b="1" lang="en" sz="400">
                <a:solidFill>
                  <a:schemeClr val="dk1"/>
                </a:solidFill>
              </a:rPr>
            </a:br>
            <a:r>
              <a:rPr lang="en" sz="400">
                <a:solidFill>
                  <a:schemeClr val="dk1"/>
                </a:solidFill>
              </a:rPr>
              <a:t>Establishes a lower-bound benchmark. If the agent cannot outperform it, the additional planning and execution complexity is difficult to justify.</a:t>
            </a:r>
            <a:endParaRPr sz="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t/>
            </a:r>
            <a:endParaRPr b="1" sz="2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5522005" y="548836"/>
            <a:ext cx="3410100" cy="1978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"/>
          <p:cNvSpPr/>
          <p:nvPr/>
        </p:nvSpPr>
        <p:spPr>
          <a:xfrm>
            <a:off x="5522000" y="548824"/>
            <a:ext cx="3410100" cy="4770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1" name="Google Shape;2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2363" y="620962"/>
            <a:ext cx="220665" cy="216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8"/>
          <p:cNvSpPr/>
          <p:nvPr/>
        </p:nvSpPr>
        <p:spPr>
          <a:xfrm>
            <a:off x="5903150" y="627950"/>
            <a:ext cx="290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A7EA4"/>
                </a:solidFill>
                <a:latin typeface="Calibri"/>
                <a:ea typeface="Calibri"/>
                <a:cs typeface="Calibri"/>
                <a:sym typeface="Calibri"/>
              </a:rPr>
              <a:t>Dataset Confirmed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5662425" y="861825"/>
            <a:ext cx="3189600" cy="15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457200" rtl="0" algn="l">
              <a:spcBef>
                <a:spcPts val="30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Char char="•"/>
            </a:pPr>
            <a:r>
              <a:rPr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Review the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list of curated datasets</a:t>
            </a:r>
            <a:r>
              <a:rPr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and identify the one(s) most relevant to your use case (If you are using a dataset/API from the curated list, please list it here (include ID number)). </a:t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spcBef>
                <a:spcPts val="30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Char char="•"/>
            </a:pPr>
            <a:r>
              <a:rPr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If you are using a dataset/API outside the curated list, please submit the </a:t>
            </a:r>
            <a:r>
              <a:rPr lang="en" sz="900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Dataset/API Request Form</a:t>
            </a:r>
            <a:r>
              <a:rPr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(one submission per dataset).</a:t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spcBef>
                <a:spcPts val="30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Char char="•"/>
            </a:pPr>
            <a:r>
              <a:rPr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Please keep in in mind the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dataset considerations</a:t>
            </a:r>
            <a:r>
              <a:rPr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. All requests will be reviewed on a case-by-case basis. </a:t>
            </a:r>
            <a:r>
              <a:rPr b="1"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Deadline to confirm dataset/API: June 16 EOD.</a:t>
            </a:r>
            <a:endParaRPr b="1"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5522000" y="2571750"/>
            <a:ext cx="3410100" cy="1327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8"/>
          <p:cNvSpPr/>
          <p:nvPr/>
        </p:nvSpPr>
        <p:spPr>
          <a:xfrm>
            <a:off x="5522000" y="2571750"/>
            <a:ext cx="3410100" cy="426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42363" y="2632426"/>
            <a:ext cx="220675" cy="20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8"/>
          <p:cNvSpPr/>
          <p:nvPr/>
        </p:nvSpPr>
        <p:spPr>
          <a:xfrm>
            <a:off x="5903161" y="2635475"/>
            <a:ext cx="29088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Observability Plan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8"/>
          <p:cNvSpPr/>
          <p:nvPr/>
        </p:nvSpPr>
        <p:spPr>
          <a:xfrm>
            <a:off x="5662425" y="2851775"/>
            <a:ext cx="31896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Tracing tool: LangFuse</a:t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Intermediate steps traced: query decomposition, tool</a:t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selection, data retrieval inputs/outputs, statistical</a:t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computation steps, report generation reasoning</a:t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Failure detection: incomplete tool outputs, data</a:t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retrieval errors, missing ticker data, logical</a:t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inconsistencies in generated reports</a:t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5522000" y="3943675"/>
            <a:ext cx="3410100" cy="972000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/>
          <p:nvPr/>
        </p:nvSpPr>
        <p:spPr>
          <a:xfrm>
            <a:off x="5522000" y="3943675"/>
            <a:ext cx="3410100" cy="435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52050" y="4004463"/>
            <a:ext cx="201300" cy="2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8"/>
          <p:cNvSpPr/>
          <p:nvPr/>
        </p:nvSpPr>
        <p:spPr>
          <a:xfrm>
            <a:off x="5903161" y="4008500"/>
            <a:ext cx="29088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Evaluation Approach Confirmed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5662425" y="4205750"/>
            <a:ext cx="3189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Method chosen: Heuristic-Based + LLM-as-a-Judge (hybrid)</a:t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Key limitation to mitigate: LLM judge may lack deep financial domain expertise, could be addressed via structured rubrics, defined scoring criteria, and periodic expert spot-checks</a:t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"/>
          <p:cNvSpPr txBox="1"/>
          <p:nvPr/>
        </p:nvSpPr>
        <p:spPr>
          <a:xfrm>
            <a:off x="152400" y="148075"/>
            <a:ext cx="7934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3000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Learn Day</a:t>
            </a:r>
            <a:r>
              <a:rPr b="1" lang="en" sz="3000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3000">
                <a:solidFill>
                  <a:srgbClr val="EB088A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3000">
              <a:solidFill>
                <a:srgbClr val="EB088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95" name="Google Shape;295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1575" y="1217882"/>
            <a:ext cx="4640754" cy="164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0" name="Google Shape;300;p29"/>
          <p:cNvGraphicFramePr/>
          <p:nvPr/>
        </p:nvGraphicFramePr>
        <p:xfrm>
          <a:off x="257925" y="30649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{C5E9828B-B9CA-46F0-A7BE-30EB856F67AF}</a:tableStyleId>
              </a:tblPr>
              <a:tblGrid>
                <a:gridCol w="4161450"/>
                <a:gridCol w="999150"/>
              </a:tblGrid>
              <a:tr h="105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Infrastructure</a:t>
                      </a:r>
                      <a:endParaRPr b="1"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18275" marB="18275" marR="18275" marL="1827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0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Completed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18275" marB="18275" marR="18275" marL="1827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0088"/>
                    </a:solidFill>
                  </a:tcPr>
                </a:tc>
              </a:tr>
              <a:tr h="15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Accepted the invite to Vector’s GitHub organization and created your team workspace</a:t>
                      </a:r>
                      <a:endParaRPr sz="900" u="none" cap="none" strike="noStrike"/>
                    </a:p>
                  </a:txBody>
                  <a:tcPr marT="18275" marB="18275" marR="18275" marL="182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18275" marB="18275" marR="18275" marL="182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Set up your development environment and review the provided reference implementations</a:t>
                      </a:r>
                      <a:endParaRPr sz="900"/>
                    </a:p>
                  </a:txBody>
                  <a:tcPr marT="18275" marB="18275" marR="18275" marL="182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18275" marB="18275" marR="18275" marL="182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Updated status </a:t>
                      </a:r>
                      <a:r>
                        <a:rPr lang="en" sz="900" u="sng"/>
                        <a:t>based on your scenario</a:t>
                      </a:r>
                      <a:r>
                        <a:rPr lang="en" sz="900"/>
                        <a:t>:</a:t>
                      </a:r>
                      <a:endParaRPr sz="900"/>
                    </a:p>
                    <a:p>
                      <a:pPr indent="-17145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Char char="●"/>
                      </a:pPr>
                      <a:r>
                        <a:rPr lang="en" sz="900" u="none" cap="none" strike="noStrike"/>
                        <a:t>Set up API keys </a:t>
                      </a:r>
                      <a:r>
                        <a:rPr lang="en" sz="900"/>
                        <a:t>and environment variables in .env file</a:t>
                      </a:r>
                      <a:r>
                        <a:rPr lang="en" sz="900" u="none" cap="none" strike="noStrike"/>
                        <a:t> </a:t>
                      </a:r>
                      <a:endParaRPr sz="900" u="none" cap="none" strike="noStrike"/>
                    </a:p>
                    <a:p>
                      <a:pPr indent="-17145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Char char="●"/>
                      </a:pPr>
                      <a:r>
                        <a:rPr lang="en" sz="900" u="none" cap="none" strike="noStrike"/>
                        <a:t>Code interpreter</a:t>
                      </a:r>
                      <a:r>
                        <a:rPr lang="en" sz="900"/>
                        <a:t>: set up E2B API key (optional). </a:t>
                      </a:r>
                      <a:br>
                        <a:rPr lang="en" sz="900"/>
                      </a:br>
                      <a:r>
                        <a:rPr lang="en" sz="900"/>
                        <a:t>Large Code Interpreter data files: Fill in the name of the</a:t>
                      </a:r>
                      <a:r>
                        <a:rPr lang="en" sz="900" u="sng" cap="none" strike="noStrike">
                          <a:solidFill>
                            <a:schemeClr val="hlink"/>
                          </a:solidFill>
                          <a:hlinkClick r:id="rId3"/>
                        </a:rPr>
                        <a:t> custom E2B template</a:t>
                      </a:r>
                      <a:r>
                        <a:rPr lang="en" sz="900"/>
                        <a:t> created for your team (optional)</a:t>
                      </a:r>
                      <a:r>
                        <a:rPr lang="en" sz="900" u="none" cap="none" strike="noStrike"/>
                        <a:t>.</a:t>
                      </a:r>
                      <a:endParaRPr sz="900" u="none" cap="none" strike="noStrike"/>
                    </a:p>
                  </a:txBody>
                  <a:tcPr marT="18275" marB="18275" marR="18275" marL="182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 u="none" cap="none" strike="noStrike"/>
                    </a:p>
                  </a:txBody>
                  <a:tcPr marT="18275" marB="18275" marR="18275" marL="182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1" name="Google Shape;301;p29"/>
          <p:cNvGraphicFramePr/>
          <p:nvPr/>
        </p:nvGraphicFramePr>
        <p:xfrm>
          <a:off x="2949638" y="15806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{C5E9828B-B9CA-46F0-A7BE-30EB856F67AF}</a:tableStyleId>
              </a:tblPr>
              <a:tblGrid>
                <a:gridCol w="1689900"/>
                <a:gridCol w="778975"/>
              </a:tblGrid>
              <a:tr h="161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Dataset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18275" marB="18275" marR="18275" marL="1827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0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Completed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18275" marB="18275" marR="18275" marL="1827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0088"/>
                    </a:solidFill>
                  </a:tcPr>
                </a:tc>
              </a:tr>
              <a:tr h="46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Selected a dataset from the curated list </a:t>
                      </a:r>
                      <a:r>
                        <a:rPr b="1" lang="en" sz="900" u="sng"/>
                        <a:t>OR</a:t>
                      </a:r>
                      <a:r>
                        <a:rPr lang="en" sz="900"/>
                        <a:t> received approval for a new dataset request (refer to previous slide)</a:t>
                      </a:r>
                      <a:endParaRPr sz="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8275" marB="18275" marR="18275" marL="182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18275" marB="18275" marR="18275" marL="182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Preprocessed and transformed data as needed (ideally before Build Days)</a:t>
                      </a:r>
                      <a:endParaRPr sz="900"/>
                    </a:p>
                  </a:txBody>
                  <a:tcPr marT="18275" marB="18275" marR="18275" marL="182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8275" marB="18275" marR="18275" marL="182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2" name="Google Shape;302;p29"/>
          <p:cNvGraphicFramePr/>
          <p:nvPr/>
        </p:nvGraphicFramePr>
        <p:xfrm>
          <a:off x="257913" y="15806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{C5E9828B-B9CA-46F0-A7BE-30EB856F67AF}</a:tableStyleId>
              </a:tblPr>
              <a:tblGrid>
                <a:gridCol w="1620100"/>
                <a:gridCol w="848775"/>
              </a:tblGrid>
              <a:tr h="2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Use Case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18275" marB="18275" marR="18275" marL="1827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0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Completed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18275" marB="18275" marR="18275" marL="1827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0088"/>
                    </a:solidFill>
                  </a:tcPr>
                </a:tc>
              </a:tr>
              <a:tr h="52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Refined the use-case scope based on Learn Days and Vector’s feedback</a:t>
                      </a:r>
                      <a:endParaRPr sz="900" u="none" cap="none" strike="noStrike"/>
                    </a:p>
                  </a:txBody>
                  <a:tcPr marT="18275" marB="18275" marR="18275" marL="182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X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8275" marB="18275" marR="18275" marL="182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Refined 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evaluation pipeline diagram/schematic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, and data pipeline based on feedback</a:t>
                      </a:r>
                      <a:endParaRPr sz="900"/>
                    </a:p>
                  </a:txBody>
                  <a:tcPr marT="18275" marB="18275" marR="18275" marL="182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X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8275" marB="18275" marR="18275" marL="182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3" name="Google Shape;303;p29"/>
          <p:cNvSpPr/>
          <p:nvPr/>
        </p:nvSpPr>
        <p:spPr>
          <a:xfrm>
            <a:off x="5641350" y="1448325"/>
            <a:ext cx="3376500" cy="3161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1100">
                <a:solidFill>
                  <a:srgbClr val="EC008C"/>
                </a:solidFill>
                <a:latin typeface="Roboto"/>
                <a:ea typeface="Roboto"/>
                <a:cs typeface="Roboto"/>
                <a:sym typeface="Roboto"/>
              </a:rPr>
              <a:t>What you need to accomplish during the Build Days:</a:t>
            </a:r>
            <a:endParaRPr b="1" sz="1100">
              <a:solidFill>
                <a:srgbClr val="EC008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Your </a:t>
            </a:r>
            <a:r>
              <a:rPr b="1" lang="en" sz="900">
                <a:solidFill>
                  <a:schemeClr val="dk1"/>
                </a:solidFill>
              </a:rPr>
              <a:t>goal</a:t>
            </a:r>
            <a:r>
              <a:rPr lang="en" sz="900">
                <a:solidFill>
                  <a:schemeClr val="dk1"/>
                </a:solidFill>
              </a:rPr>
              <a:t> is to develop a </a:t>
            </a:r>
            <a:r>
              <a:rPr b="1" lang="en" sz="900">
                <a:solidFill>
                  <a:schemeClr val="dk1"/>
                </a:solidFill>
              </a:rPr>
              <a:t>working, testable agent (POC) that connects clearly to your use case</a:t>
            </a:r>
            <a:r>
              <a:rPr lang="en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900">
                <a:solidFill>
                  <a:srgbClr val="313CFF"/>
                </a:solidFill>
              </a:rPr>
              <a:t>Focus Areas:</a:t>
            </a:r>
            <a:endParaRPr sz="800">
              <a:solidFill>
                <a:srgbClr val="313CFF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" sz="800">
                <a:solidFill>
                  <a:schemeClr val="dk1"/>
                </a:solidFill>
              </a:rPr>
              <a:t>Build: </a:t>
            </a:r>
            <a:r>
              <a:rPr lang="en" sz="800">
                <a:solidFill>
                  <a:schemeClr val="dk1"/>
                </a:solidFill>
              </a:rPr>
              <a:t>Get a basic version running. Connect your agent to key tools and workflows. Create your evaluation dataset.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" sz="800">
                <a:solidFill>
                  <a:schemeClr val="dk1"/>
                </a:solidFill>
              </a:rPr>
              <a:t>Evaluate: </a:t>
            </a:r>
            <a:r>
              <a:rPr lang="en" sz="800">
                <a:solidFill>
                  <a:schemeClr val="dk1"/>
                </a:solidFill>
              </a:rPr>
              <a:t>Run your POC on data. Capture baseline results and log runs in LangFuse.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" sz="800">
                <a:solidFill>
                  <a:schemeClr val="dk1"/>
                </a:solidFill>
              </a:rPr>
              <a:t>Improve: </a:t>
            </a:r>
            <a:r>
              <a:rPr lang="en" sz="800">
                <a:solidFill>
                  <a:schemeClr val="dk1"/>
                </a:solidFill>
              </a:rPr>
              <a:t>Try 2–3 meaningful changes. Compare results and track measurable impact.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" sz="800">
                <a:solidFill>
                  <a:schemeClr val="dk1"/>
                </a:solidFill>
              </a:rPr>
              <a:t>Refine: </a:t>
            </a:r>
            <a:r>
              <a:rPr lang="en" sz="800">
                <a:solidFill>
                  <a:schemeClr val="dk1"/>
                </a:solidFill>
              </a:rPr>
              <a:t>Finalize your best version and summarize what improved and why.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" sz="800">
                <a:solidFill>
                  <a:schemeClr val="dk1"/>
                </a:solidFill>
              </a:rPr>
              <a:t>Document: </a:t>
            </a:r>
            <a:r>
              <a:rPr lang="en" sz="800">
                <a:solidFill>
                  <a:schemeClr val="dk1"/>
                </a:solidFill>
              </a:rPr>
              <a:t>Keep your team tracker updated daily (progress, blockers, what’s working, lessons learned).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900">
                <a:solidFill>
                  <a:srgbClr val="3B45E3"/>
                </a:solidFill>
              </a:rPr>
              <a:t>Tips:</a:t>
            </a:r>
            <a:endParaRPr b="1" sz="900">
              <a:solidFill>
                <a:srgbClr val="3B45E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As you work, think ahead to your final deck:</a:t>
            </a:r>
            <a:endParaRPr sz="800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What was the business problem?</a:t>
            </a:r>
            <a:endParaRPr sz="800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How does the agent and the chosen evaluation metrics align with the problems?</a:t>
            </a:r>
            <a:endParaRPr sz="800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What are you expecting out of the evaluation results?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Your daily work now feeds directly into your final presentation. Build with impact and clarity in mind.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140923" y="1460392"/>
            <a:ext cx="267600" cy="247800"/>
          </a:xfrm>
          <a:prstGeom prst="flowChartConnector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1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305" name="Google Shape;305;p29"/>
          <p:cNvSpPr/>
          <p:nvPr/>
        </p:nvSpPr>
        <p:spPr>
          <a:xfrm>
            <a:off x="2801743" y="1460392"/>
            <a:ext cx="267600" cy="247800"/>
          </a:xfrm>
          <a:prstGeom prst="flowChartConnector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2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140923" y="2972195"/>
            <a:ext cx="267600" cy="247800"/>
          </a:xfrm>
          <a:prstGeom prst="flowChartConnector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3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307" name="Google Shape;307;p29"/>
          <p:cNvSpPr/>
          <p:nvPr/>
        </p:nvSpPr>
        <p:spPr>
          <a:xfrm>
            <a:off x="136500" y="507775"/>
            <a:ext cx="88374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" sz="1250">
                <a:solidFill>
                  <a:srgbClr val="EB088A"/>
                </a:solidFill>
              </a:rPr>
              <a:t>Before meeting for the second touchpoint, ensure:</a:t>
            </a:r>
            <a:endParaRPr b="1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You’ve completed the </a:t>
            </a:r>
            <a:r>
              <a:rPr b="1" lang="en" sz="1000">
                <a:solidFill>
                  <a:schemeClr val="dk1"/>
                </a:solidFill>
              </a:rPr>
              <a:t>Learn Days</a:t>
            </a:r>
            <a:r>
              <a:rPr lang="en" sz="1000">
                <a:solidFill>
                  <a:schemeClr val="dk1"/>
                </a:solidFill>
              </a:rPr>
              <a:t> decks &amp; the </a:t>
            </a:r>
            <a:r>
              <a:rPr b="1" i="1" lang="en" sz="1000">
                <a:solidFill>
                  <a:schemeClr val="dk1"/>
                </a:solidFill>
              </a:rPr>
              <a:t>“Updated Project Description”</a:t>
            </a:r>
            <a:r>
              <a:rPr lang="en" sz="1000">
                <a:solidFill>
                  <a:schemeClr val="dk1"/>
                </a:solidFill>
              </a:rPr>
              <a:t> section is filled out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You’ve made progress on as many items from the checklist below as possible. This will help make the most of your discussion with facilitators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08" name="Google Shape;308;p29"/>
          <p:cNvSpPr/>
          <p:nvPr/>
        </p:nvSpPr>
        <p:spPr>
          <a:xfrm>
            <a:off x="516000" y="1270550"/>
            <a:ext cx="1410900" cy="24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C00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Once a task is finished, </a:t>
            </a:r>
            <a:r>
              <a:rPr b="1" lang="en" sz="700"/>
              <a:t>update</a:t>
            </a:r>
            <a:r>
              <a:rPr lang="en" sz="700"/>
              <a:t> the “Completed” column</a:t>
            </a:r>
            <a:endParaRPr sz="700"/>
          </a:p>
        </p:txBody>
      </p:sp>
      <p:sp>
        <p:nvSpPr>
          <p:cNvPr id="309" name="Google Shape;309;p29"/>
          <p:cNvSpPr/>
          <p:nvPr/>
        </p:nvSpPr>
        <p:spPr>
          <a:xfrm>
            <a:off x="6931225" y="436211"/>
            <a:ext cx="1764000" cy="323400"/>
          </a:xfrm>
          <a:prstGeom prst="rect">
            <a:avLst/>
          </a:prstGeom>
          <a:solidFill>
            <a:srgbClr val="E4E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Not part of certification, but required for Build Days readiness</a:t>
            </a:r>
            <a:endParaRPr sz="800"/>
          </a:p>
        </p:txBody>
      </p:sp>
      <p:sp>
        <p:nvSpPr>
          <p:cNvPr id="310" name="Google Shape;310;p29"/>
          <p:cNvSpPr txBox="1"/>
          <p:nvPr/>
        </p:nvSpPr>
        <p:spPr>
          <a:xfrm>
            <a:off x="152400" y="148075"/>
            <a:ext cx="6369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2800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Build Day </a:t>
            </a:r>
            <a:r>
              <a:rPr b="1" lang="en" sz="2800">
                <a:solidFill>
                  <a:srgbClr val="EC0088"/>
                </a:solidFill>
                <a:latin typeface="Open Sans"/>
                <a:ea typeface="Open Sans"/>
                <a:cs typeface="Open Sans"/>
                <a:sym typeface="Open Sans"/>
              </a:rPr>
              <a:t>Team Readiness Checklist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0"/>
          <p:cNvSpPr/>
          <p:nvPr/>
        </p:nvSpPr>
        <p:spPr>
          <a:xfrm>
            <a:off x="152400" y="656950"/>
            <a:ext cx="893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A4"/>
              </a:buClr>
              <a:buSzPts val="850"/>
              <a:buFont typeface="Calibri"/>
              <a:buNone/>
            </a:pPr>
            <a:r>
              <a:rPr b="1" i="1" lang="en" sz="850" u="none" cap="none" strike="noStrike">
                <a:solidFill>
                  <a:srgbClr val="8896A4"/>
                </a:solidFill>
                <a:latin typeface="Calibri"/>
                <a:ea typeface="Calibri"/>
                <a:cs typeface="Calibri"/>
                <a:sym typeface="Calibri"/>
              </a:rPr>
              <a:t>Track each meaningful experiment run. Goal: 2–3 variations with measurable comparison.</a:t>
            </a:r>
            <a:endParaRPr b="1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0"/>
          <p:cNvSpPr/>
          <p:nvPr/>
        </p:nvSpPr>
        <p:spPr>
          <a:xfrm>
            <a:off x="152400" y="958703"/>
            <a:ext cx="285000" cy="2925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190416" y="958703"/>
            <a:ext cx="20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0"/>
          <p:cNvSpPr/>
          <p:nvPr/>
        </p:nvSpPr>
        <p:spPr>
          <a:xfrm>
            <a:off x="456527" y="958703"/>
            <a:ext cx="380100" cy="2925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494543" y="958703"/>
            <a:ext cx="30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855694" y="958703"/>
            <a:ext cx="1520700" cy="2925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0"/>
          <p:cNvSpPr/>
          <p:nvPr/>
        </p:nvSpPr>
        <p:spPr>
          <a:xfrm>
            <a:off x="893710" y="958703"/>
            <a:ext cx="1444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 Name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0"/>
          <p:cNvSpPr/>
          <p:nvPr/>
        </p:nvSpPr>
        <p:spPr>
          <a:xfrm>
            <a:off x="2395339" y="958703"/>
            <a:ext cx="2091000" cy="2925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0"/>
          <p:cNvSpPr/>
          <p:nvPr/>
        </p:nvSpPr>
        <p:spPr>
          <a:xfrm>
            <a:off x="2433354" y="958703"/>
            <a:ext cx="20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Changed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0"/>
          <p:cNvSpPr/>
          <p:nvPr/>
        </p:nvSpPr>
        <p:spPr>
          <a:xfrm>
            <a:off x="4505221" y="958703"/>
            <a:ext cx="1140600" cy="2925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4543237" y="958703"/>
            <a:ext cx="106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Metric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5664706" y="958703"/>
            <a:ext cx="1140600" cy="2925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0"/>
          <p:cNvSpPr/>
          <p:nvPr/>
        </p:nvSpPr>
        <p:spPr>
          <a:xfrm>
            <a:off x="5702722" y="958703"/>
            <a:ext cx="106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6824191" y="958703"/>
            <a:ext cx="1900800" cy="2925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0"/>
          <p:cNvSpPr/>
          <p:nvPr/>
        </p:nvSpPr>
        <p:spPr>
          <a:xfrm>
            <a:off x="6862207" y="958703"/>
            <a:ext cx="182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Action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152400" y="1251313"/>
            <a:ext cx="2850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0"/>
          <p:cNvSpPr/>
          <p:nvPr/>
        </p:nvSpPr>
        <p:spPr>
          <a:xfrm>
            <a:off x="456527" y="1251313"/>
            <a:ext cx="3801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0"/>
          <p:cNvSpPr/>
          <p:nvPr/>
        </p:nvSpPr>
        <p:spPr>
          <a:xfrm>
            <a:off x="494543" y="1287889"/>
            <a:ext cx="303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1/2/3</a:t>
            </a:r>
            <a:endParaRPr b="0" i="0" sz="70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855694" y="1251313"/>
            <a:ext cx="15207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2395339" y="1251313"/>
            <a:ext cx="20910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0"/>
          <p:cNvSpPr/>
          <p:nvPr/>
        </p:nvSpPr>
        <p:spPr>
          <a:xfrm>
            <a:off x="4505221" y="1251313"/>
            <a:ext cx="11406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0"/>
          <p:cNvSpPr/>
          <p:nvPr/>
        </p:nvSpPr>
        <p:spPr>
          <a:xfrm>
            <a:off x="4543237" y="1287889"/>
            <a:ext cx="1064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e.g. F1</a:t>
            </a:r>
            <a:endParaRPr b="0" i="0" sz="700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5664706" y="1251313"/>
            <a:ext cx="11406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0"/>
          <p:cNvSpPr/>
          <p:nvPr/>
        </p:nvSpPr>
        <p:spPr>
          <a:xfrm>
            <a:off x="6824191" y="1251313"/>
            <a:ext cx="19008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0"/>
          <p:cNvSpPr/>
          <p:nvPr/>
        </p:nvSpPr>
        <p:spPr>
          <a:xfrm>
            <a:off x="6862207" y="1287889"/>
            <a:ext cx="182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Improve / Keep / Drop</a:t>
            </a:r>
            <a:endParaRPr b="0" i="0" sz="70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152400" y="1708515"/>
            <a:ext cx="2850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456527" y="1708515"/>
            <a:ext cx="3801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0"/>
          <p:cNvSpPr/>
          <p:nvPr/>
        </p:nvSpPr>
        <p:spPr>
          <a:xfrm>
            <a:off x="494543" y="1745091"/>
            <a:ext cx="303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1/2/3</a:t>
            </a:r>
            <a:endParaRPr b="0" i="0" sz="70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855694" y="1708515"/>
            <a:ext cx="15207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0"/>
          <p:cNvSpPr/>
          <p:nvPr/>
        </p:nvSpPr>
        <p:spPr>
          <a:xfrm>
            <a:off x="2395339" y="1708515"/>
            <a:ext cx="20910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0"/>
          <p:cNvSpPr/>
          <p:nvPr/>
        </p:nvSpPr>
        <p:spPr>
          <a:xfrm>
            <a:off x="4505221" y="1708515"/>
            <a:ext cx="11406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0"/>
          <p:cNvSpPr/>
          <p:nvPr/>
        </p:nvSpPr>
        <p:spPr>
          <a:xfrm>
            <a:off x="4543237" y="1745091"/>
            <a:ext cx="1064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e.g. F1</a:t>
            </a:r>
            <a:endParaRPr b="0" i="0" sz="70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5664706" y="1708515"/>
            <a:ext cx="11406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0"/>
          <p:cNvSpPr/>
          <p:nvPr/>
        </p:nvSpPr>
        <p:spPr>
          <a:xfrm>
            <a:off x="6824191" y="1708515"/>
            <a:ext cx="19008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0"/>
          <p:cNvSpPr/>
          <p:nvPr/>
        </p:nvSpPr>
        <p:spPr>
          <a:xfrm>
            <a:off x="6862207" y="1745091"/>
            <a:ext cx="182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lang="en" sz="700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Improve / Keep / Drop</a:t>
            </a:r>
            <a:endParaRPr b="0" sz="700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152400" y="2165717"/>
            <a:ext cx="2850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0"/>
          <p:cNvSpPr/>
          <p:nvPr/>
        </p:nvSpPr>
        <p:spPr>
          <a:xfrm>
            <a:off x="456527" y="2165717"/>
            <a:ext cx="3801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0"/>
          <p:cNvSpPr/>
          <p:nvPr/>
        </p:nvSpPr>
        <p:spPr>
          <a:xfrm>
            <a:off x="494543" y="2202293"/>
            <a:ext cx="303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1/2/3</a:t>
            </a:r>
            <a:endParaRPr b="0" i="0" sz="70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855694" y="2165717"/>
            <a:ext cx="15207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0"/>
          <p:cNvSpPr/>
          <p:nvPr/>
        </p:nvSpPr>
        <p:spPr>
          <a:xfrm>
            <a:off x="2395339" y="2165717"/>
            <a:ext cx="20910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0"/>
          <p:cNvSpPr/>
          <p:nvPr/>
        </p:nvSpPr>
        <p:spPr>
          <a:xfrm>
            <a:off x="4505221" y="2165717"/>
            <a:ext cx="11406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0"/>
          <p:cNvSpPr/>
          <p:nvPr/>
        </p:nvSpPr>
        <p:spPr>
          <a:xfrm>
            <a:off x="4543237" y="2202293"/>
            <a:ext cx="1064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e.g. F1</a:t>
            </a:r>
            <a:endParaRPr b="0" i="0" sz="70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5664706" y="2165717"/>
            <a:ext cx="11406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0"/>
          <p:cNvSpPr/>
          <p:nvPr/>
        </p:nvSpPr>
        <p:spPr>
          <a:xfrm>
            <a:off x="6824191" y="2165717"/>
            <a:ext cx="19008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0"/>
          <p:cNvSpPr/>
          <p:nvPr/>
        </p:nvSpPr>
        <p:spPr>
          <a:xfrm>
            <a:off x="6862207" y="2202293"/>
            <a:ext cx="182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Improve / Keep / Drop</a:t>
            </a:r>
            <a:endParaRPr b="0" i="0" sz="70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152400" y="2622919"/>
            <a:ext cx="2850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0"/>
          <p:cNvSpPr/>
          <p:nvPr/>
        </p:nvSpPr>
        <p:spPr>
          <a:xfrm>
            <a:off x="456527" y="2622919"/>
            <a:ext cx="3801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0"/>
          <p:cNvSpPr/>
          <p:nvPr/>
        </p:nvSpPr>
        <p:spPr>
          <a:xfrm>
            <a:off x="494543" y="2659495"/>
            <a:ext cx="303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1/2/3</a:t>
            </a:r>
            <a:endParaRPr b="0" i="0" sz="700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855694" y="2622919"/>
            <a:ext cx="15207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0"/>
          <p:cNvSpPr/>
          <p:nvPr/>
        </p:nvSpPr>
        <p:spPr>
          <a:xfrm>
            <a:off x="2395339" y="2622919"/>
            <a:ext cx="20910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0"/>
          <p:cNvSpPr/>
          <p:nvPr/>
        </p:nvSpPr>
        <p:spPr>
          <a:xfrm>
            <a:off x="4505221" y="2622919"/>
            <a:ext cx="11406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0"/>
          <p:cNvSpPr/>
          <p:nvPr/>
        </p:nvSpPr>
        <p:spPr>
          <a:xfrm>
            <a:off x="4543237" y="2659495"/>
            <a:ext cx="1064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e.g. F1</a:t>
            </a:r>
            <a:endParaRPr b="0" i="0" sz="70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0"/>
          <p:cNvSpPr/>
          <p:nvPr/>
        </p:nvSpPr>
        <p:spPr>
          <a:xfrm>
            <a:off x="5664706" y="2622919"/>
            <a:ext cx="11406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0"/>
          <p:cNvSpPr/>
          <p:nvPr/>
        </p:nvSpPr>
        <p:spPr>
          <a:xfrm>
            <a:off x="6824191" y="2622919"/>
            <a:ext cx="19008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0"/>
          <p:cNvSpPr/>
          <p:nvPr/>
        </p:nvSpPr>
        <p:spPr>
          <a:xfrm>
            <a:off x="6862207" y="2659495"/>
            <a:ext cx="182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Improve / Keep / Drop</a:t>
            </a:r>
            <a:endParaRPr b="0" i="0" sz="70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152400" y="3080121"/>
            <a:ext cx="2850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0"/>
          <p:cNvSpPr/>
          <p:nvPr/>
        </p:nvSpPr>
        <p:spPr>
          <a:xfrm>
            <a:off x="456527" y="3080121"/>
            <a:ext cx="3801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0"/>
          <p:cNvSpPr/>
          <p:nvPr/>
        </p:nvSpPr>
        <p:spPr>
          <a:xfrm>
            <a:off x="494543" y="3116697"/>
            <a:ext cx="303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1/2/3</a:t>
            </a:r>
            <a:endParaRPr b="0" i="0" sz="70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0"/>
          <p:cNvSpPr/>
          <p:nvPr/>
        </p:nvSpPr>
        <p:spPr>
          <a:xfrm>
            <a:off x="855694" y="3080121"/>
            <a:ext cx="15207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0"/>
          <p:cNvSpPr/>
          <p:nvPr/>
        </p:nvSpPr>
        <p:spPr>
          <a:xfrm>
            <a:off x="2395339" y="3080121"/>
            <a:ext cx="20910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0"/>
          <p:cNvSpPr/>
          <p:nvPr/>
        </p:nvSpPr>
        <p:spPr>
          <a:xfrm>
            <a:off x="4505221" y="3080121"/>
            <a:ext cx="11406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0"/>
          <p:cNvSpPr/>
          <p:nvPr/>
        </p:nvSpPr>
        <p:spPr>
          <a:xfrm>
            <a:off x="4543237" y="3116697"/>
            <a:ext cx="1064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e.g. F1</a:t>
            </a:r>
            <a:endParaRPr b="0" i="0" sz="70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0"/>
          <p:cNvSpPr/>
          <p:nvPr/>
        </p:nvSpPr>
        <p:spPr>
          <a:xfrm>
            <a:off x="5664706" y="3080121"/>
            <a:ext cx="11406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0"/>
          <p:cNvSpPr/>
          <p:nvPr/>
        </p:nvSpPr>
        <p:spPr>
          <a:xfrm>
            <a:off x="6824191" y="3080121"/>
            <a:ext cx="19008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0"/>
          <p:cNvSpPr/>
          <p:nvPr/>
        </p:nvSpPr>
        <p:spPr>
          <a:xfrm>
            <a:off x="6862207" y="3116697"/>
            <a:ext cx="182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Improve / Keep / Drop</a:t>
            </a:r>
            <a:endParaRPr b="0" i="0" sz="70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152400" y="3537323"/>
            <a:ext cx="2850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0"/>
          <p:cNvSpPr/>
          <p:nvPr/>
        </p:nvSpPr>
        <p:spPr>
          <a:xfrm>
            <a:off x="456527" y="3537323"/>
            <a:ext cx="3801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0"/>
          <p:cNvSpPr/>
          <p:nvPr/>
        </p:nvSpPr>
        <p:spPr>
          <a:xfrm>
            <a:off x="494543" y="3573899"/>
            <a:ext cx="303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1/2/3</a:t>
            </a:r>
            <a:endParaRPr b="0" i="0" sz="70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0"/>
          <p:cNvSpPr/>
          <p:nvPr/>
        </p:nvSpPr>
        <p:spPr>
          <a:xfrm>
            <a:off x="855694" y="3537323"/>
            <a:ext cx="15207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0"/>
          <p:cNvSpPr/>
          <p:nvPr/>
        </p:nvSpPr>
        <p:spPr>
          <a:xfrm>
            <a:off x="2395339" y="3537323"/>
            <a:ext cx="20910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0"/>
          <p:cNvSpPr/>
          <p:nvPr/>
        </p:nvSpPr>
        <p:spPr>
          <a:xfrm>
            <a:off x="4505221" y="3537323"/>
            <a:ext cx="11406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0"/>
          <p:cNvSpPr/>
          <p:nvPr/>
        </p:nvSpPr>
        <p:spPr>
          <a:xfrm>
            <a:off x="4543237" y="3573899"/>
            <a:ext cx="1064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e.g. F1</a:t>
            </a:r>
            <a:endParaRPr b="0" i="0" sz="70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0"/>
          <p:cNvSpPr/>
          <p:nvPr/>
        </p:nvSpPr>
        <p:spPr>
          <a:xfrm>
            <a:off x="5664706" y="3537323"/>
            <a:ext cx="11406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0"/>
          <p:cNvSpPr/>
          <p:nvPr/>
        </p:nvSpPr>
        <p:spPr>
          <a:xfrm>
            <a:off x="6824191" y="3537323"/>
            <a:ext cx="1900800" cy="420600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0"/>
          <p:cNvSpPr/>
          <p:nvPr/>
        </p:nvSpPr>
        <p:spPr>
          <a:xfrm>
            <a:off x="6862207" y="3573899"/>
            <a:ext cx="182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CC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rPr>
              <a:t>Improve / Keep / Drop</a:t>
            </a:r>
            <a:endParaRPr b="0" i="0" sz="700" u="none" cap="none" strike="noStrike">
              <a:solidFill>
                <a:srgbClr val="9C9C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0"/>
          <p:cNvSpPr/>
          <p:nvPr/>
        </p:nvSpPr>
        <p:spPr>
          <a:xfrm>
            <a:off x="152395" y="4076809"/>
            <a:ext cx="8595300" cy="914400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1" name="Google Shape;39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123" y="4149961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0"/>
          <p:cNvSpPr/>
          <p:nvPr/>
        </p:nvSpPr>
        <p:spPr>
          <a:xfrm>
            <a:off x="518155" y="4122529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Best Experiment Summary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0"/>
          <p:cNvSpPr/>
          <p:nvPr/>
        </p:nvSpPr>
        <p:spPr>
          <a:xfrm>
            <a:off x="262123" y="4405993"/>
            <a:ext cx="201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Experiment name: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0"/>
          <p:cNvSpPr/>
          <p:nvPr/>
        </p:nvSpPr>
        <p:spPr>
          <a:xfrm>
            <a:off x="262123" y="4570585"/>
            <a:ext cx="20118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0"/>
          <p:cNvSpPr/>
          <p:nvPr/>
        </p:nvSpPr>
        <p:spPr>
          <a:xfrm>
            <a:off x="2410963" y="4405993"/>
            <a:ext cx="201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What worked: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0"/>
          <p:cNvSpPr/>
          <p:nvPr/>
        </p:nvSpPr>
        <p:spPr>
          <a:xfrm>
            <a:off x="2410963" y="4570585"/>
            <a:ext cx="20118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0"/>
          <p:cNvSpPr/>
          <p:nvPr/>
        </p:nvSpPr>
        <p:spPr>
          <a:xfrm>
            <a:off x="4559803" y="4405993"/>
            <a:ext cx="201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Result achieved: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0"/>
          <p:cNvSpPr/>
          <p:nvPr/>
        </p:nvSpPr>
        <p:spPr>
          <a:xfrm>
            <a:off x="4559803" y="4570585"/>
            <a:ext cx="20118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0"/>
          <p:cNvSpPr/>
          <p:nvPr/>
        </p:nvSpPr>
        <p:spPr>
          <a:xfrm>
            <a:off x="6708643" y="4405993"/>
            <a:ext cx="201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Why it worked best: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0"/>
          <p:cNvSpPr/>
          <p:nvPr/>
        </p:nvSpPr>
        <p:spPr>
          <a:xfrm>
            <a:off x="6708643" y="4570585"/>
            <a:ext cx="20118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0"/>
          <p:cNvSpPr txBox="1"/>
          <p:nvPr/>
        </p:nvSpPr>
        <p:spPr>
          <a:xfrm>
            <a:off x="152400" y="148075"/>
            <a:ext cx="6369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2800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Experiment Log</a:t>
            </a:r>
            <a:r>
              <a:rPr lang="en" sz="2800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2800">
                <a:solidFill>
                  <a:srgbClr val="EC0088"/>
                </a:solidFill>
                <a:latin typeface="Open Sans"/>
                <a:ea typeface="Open Sans"/>
                <a:cs typeface="Open Sans"/>
                <a:sym typeface="Open Sans"/>
              </a:rPr>
              <a:t>| Build Days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1"/>
          <p:cNvSpPr txBox="1"/>
          <p:nvPr/>
        </p:nvSpPr>
        <p:spPr>
          <a:xfrm>
            <a:off x="152400" y="148075"/>
            <a:ext cx="5658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" sz="3000" u="none" cap="none" strike="noStrike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Build Phase</a:t>
            </a:r>
            <a:r>
              <a:rPr b="1" i="0" lang="en" sz="3000" u="none" cap="none" strike="noStrike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" sz="3000" u="none" cap="none" strike="noStrike">
                <a:solidFill>
                  <a:srgbClr val="EC0088"/>
                </a:solidFill>
                <a:latin typeface="Open Sans"/>
                <a:ea typeface="Open Sans"/>
                <a:cs typeface="Open Sans"/>
                <a:sym typeface="Open Sans"/>
              </a:rPr>
              <a:t>Daily Report</a:t>
            </a:r>
            <a:endParaRPr b="0" i="0" sz="3000" u="none" cap="none" strike="noStrike">
              <a:solidFill>
                <a:srgbClr val="EC008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407" name="Google Shape;407;p31"/>
          <p:cNvGraphicFramePr/>
          <p:nvPr/>
        </p:nvGraphicFramePr>
        <p:xfrm>
          <a:off x="152400" y="7818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{C5E9828B-B9CA-46F0-A7BE-30EB856F67AF}</a:tableStyleId>
              </a:tblPr>
              <a:tblGrid>
                <a:gridCol w="2351750"/>
                <a:gridCol w="2351750"/>
                <a:gridCol w="2351750"/>
                <a:gridCol w="1650625"/>
              </a:tblGrid>
              <a:tr h="2898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&lt;USE CASE TITLE&gt;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 - Day 1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18275" marB="18275" marR="18275" marL="182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45E3"/>
                    </a:solidFill>
                  </a:tcPr>
                </a:tc>
                <a:tc hMerge="1"/>
                <a:tc hMerge="1"/>
                <a:tc hMerge="1"/>
              </a:tr>
              <a:tr h="69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3B45E3"/>
                          </a:solidFill>
                        </a:rPr>
                        <a:t>Achievements</a:t>
                      </a:r>
                      <a:endParaRPr b="1" sz="900" u="none" cap="none" strike="noStrike">
                        <a:solidFill>
                          <a:srgbClr val="3B45E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700" u="none" cap="none" strike="noStrike">
                          <a:solidFill>
                            <a:srgbClr val="999999"/>
                          </a:solidFill>
                        </a:rPr>
                        <a:t>Indicate any achievements gained throughout the day. List what your team built, tested, or validated today.</a:t>
                      </a:r>
                      <a:endParaRPr sz="700" u="none" cap="none" strike="noStrike"/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3B45E3"/>
                          </a:solidFill>
                        </a:rPr>
                        <a:t>Challenges</a:t>
                      </a:r>
                      <a:endParaRPr b="1" sz="900" u="none" cap="none" strike="noStrike">
                        <a:solidFill>
                          <a:srgbClr val="3B45E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700" u="none" cap="none" strike="noStrike">
                          <a:solidFill>
                            <a:srgbClr val="999999"/>
                          </a:solidFill>
                        </a:rPr>
                        <a:t>Indicate any challenges and/or bottlenecks your team encountered throughout the day</a:t>
                      </a:r>
                      <a:endParaRPr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3B45E3"/>
                          </a:solidFill>
                        </a:rPr>
                        <a:t>Next Steps</a:t>
                      </a:r>
                      <a:endParaRPr b="1" sz="900" u="none" cap="none" strike="noStrike">
                        <a:solidFill>
                          <a:srgbClr val="3B45E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700" u="none" cap="none" strike="noStrike">
                          <a:solidFill>
                            <a:srgbClr val="999999"/>
                          </a:solidFill>
                        </a:rPr>
                        <a:t>Indicate next steps for the upcoming days in the lab </a:t>
                      </a:r>
                      <a:endParaRPr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3B45E3"/>
                          </a:solidFill>
                        </a:rPr>
                        <a:t>Vector Feedback</a:t>
                      </a:r>
                      <a:endParaRPr b="1" sz="900" u="none" cap="none" strike="noStrike">
                        <a:solidFill>
                          <a:srgbClr val="3B45E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700" u="none" cap="none" strike="noStrike">
                          <a:solidFill>
                            <a:srgbClr val="999999"/>
                          </a:solidFill>
                        </a:rPr>
                        <a:t>End-of day feedback from facilitators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>
                        <a:alpha val="69410"/>
                      </a:srgbClr>
                    </a:solidFill>
                  </a:tcPr>
                </a:tc>
              </a:tr>
              <a:tr h="3189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E4"/>
                        </a:buClr>
                        <a:buSzPts val="900"/>
                        <a:buFont typeface="Arial"/>
                        <a:buChar char="●"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3B45E4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E4"/>
                        </a:buClr>
                        <a:buSzPts val="900"/>
                        <a:buFont typeface="Arial"/>
                        <a:buChar char="●"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3B45E4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E4"/>
                        </a:buClr>
                        <a:buSzPts val="900"/>
                        <a:buFont typeface="Arial"/>
                        <a:buChar char="●"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3B45E4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E4"/>
                        </a:buClr>
                        <a:buSzPts val="900"/>
                        <a:buFont typeface="Arial"/>
                        <a:buChar char="●"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3B45E4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>
                        <a:alpha val="6941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08" name="Google Shape;408;p31"/>
          <p:cNvSpPr txBox="1"/>
          <p:nvPr/>
        </p:nvSpPr>
        <p:spPr>
          <a:xfrm>
            <a:off x="116125" y="493266"/>
            <a:ext cx="853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this template to summarize your team’s daily progress, challenges, and next steps. Keep entries concise and outcome-focused.</a:t>
            </a:r>
            <a:endParaRPr b="0" i="1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2"/>
          <p:cNvSpPr txBox="1"/>
          <p:nvPr/>
        </p:nvSpPr>
        <p:spPr>
          <a:xfrm>
            <a:off x="152400" y="148075"/>
            <a:ext cx="5658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" sz="3000" u="none" cap="none" strike="noStrike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Build Phase</a:t>
            </a:r>
            <a:r>
              <a:rPr b="1" i="0" lang="en" sz="3000" u="none" cap="none" strike="noStrike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" sz="3000" u="none" cap="none" strike="noStrike">
                <a:solidFill>
                  <a:srgbClr val="EC0088"/>
                </a:solidFill>
                <a:latin typeface="Open Sans"/>
                <a:ea typeface="Open Sans"/>
                <a:cs typeface="Open Sans"/>
                <a:sym typeface="Open Sans"/>
              </a:rPr>
              <a:t>Daily Report</a:t>
            </a:r>
            <a:endParaRPr b="0" i="0" sz="3000" u="none" cap="none" strike="noStrike">
              <a:solidFill>
                <a:srgbClr val="EC008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414" name="Google Shape;414;p32"/>
          <p:cNvGraphicFramePr/>
          <p:nvPr/>
        </p:nvGraphicFramePr>
        <p:xfrm>
          <a:off x="202475" y="7781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{C5E9828B-B9CA-46F0-A7BE-30EB856F67AF}</a:tableStyleId>
              </a:tblPr>
              <a:tblGrid>
                <a:gridCol w="2363900"/>
                <a:gridCol w="2363900"/>
                <a:gridCol w="2363900"/>
                <a:gridCol w="1659150"/>
              </a:tblGrid>
              <a:tr h="2875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&lt;USE CASE TITLE&gt;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  - Day 2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18275" marB="18275" marR="18275" marL="182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 hMerge="1"/>
                <a:tc hMerge="1"/>
                <a:tc hMerge="1"/>
              </a:tr>
              <a:tr h="56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D97706"/>
                          </a:solidFill>
                        </a:rPr>
                        <a:t>Progress and Insights</a:t>
                      </a:r>
                      <a:endParaRPr b="1" sz="900" u="none" cap="none" strike="noStrike">
                        <a:solidFill>
                          <a:srgbClr val="D97706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700" u="none" cap="none" strike="noStrike">
                          <a:solidFill>
                            <a:srgbClr val="999999"/>
                          </a:solidFill>
                        </a:rPr>
                        <a:t>Summarize key accomplishments, learnings, and observations. Note what improved or changed since the previous day and any new ideas that emerged.</a:t>
                      </a:r>
                      <a:endParaRPr sz="700" u="none" cap="none" strike="noStrike"/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D97706"/>
                          </a:solidFill>
                        </a:rPr>
                        <a:t>Challenges</a:t>
                      </a:r>
                      <a:endParaRPr b="1" sz="900" u="none" cap="none" strike="noStrike">
                        <a:solidFill>
                          <a:srgbClr val="D97706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700" u="none" cap="none" strike="noStrike">
                          <a:solidFill>
                            <a:srgbClr val="999999"/>
                          </a:solidFill>
                        </a:rPr>
                        <a:t>Indicate any challenges and/or bottlenecks your team encountered throughout the day</a:t>
                      </a:r>
                      <a:endParaRPr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D97706"/>
                          </a:solidFill>
                        </a:rPr>
                        <a:t>Next Steps</a:t>
                      </a:r>
                      <a:endParaRPr b="1" sz="900" u="none" cap="none" strike="noStrike">
                        <a:solidFill>
                          <a:srgbClr val="D97706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i="1" lang="en" sz="700" u="none" cap="none" strike="noStrike">
                          <a:solidFill>
                            <a:srgbClr val="999999"/>
                          </a:solidFill>
                        </a:rPr>
                        <a:t>Indicate next steps for the upcoming days in the lab </a:t>
                      </a:r>
                      <a:endParaRPr sz="1400" u="none" cap="none" strike="noStrike"/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D97706"/>
                          </a:solidFill>
                        </a:rPr>
                        <a:t>Vector Feedback</a:t>
                      </a:r>
                      <a:endParaRPr b="1" sz="900" u="none" cap="none" strike="noStrike">
                        <a:solidFill>
                          <a:srgbClr val="D97706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700" u="none" cap="none" strike="noStrike">
                          <a:solidFill>
                            <a:srgbClr val="999999"/>
                          </a:solidFill>
                        </a:rPr>
                        <a:t>End-of day feedback from facilitators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>
                        <a:alpha val="69410"/>
                      </a:srgbClr>
                    </a:solidFill>
                  </a:tcPr>
                </a:tc>
              </a:tr>
              <a:tr h="1516625">
                <a:tc rowSpan="2"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900"/>
                        <a:buFont typeface="Arial"/>
                        <a:buChar char="●"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D97706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D97706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D97706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900"/>
                        <a:buFont typeface="Arial"/>
                        <a:buChar char="●"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D97706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900"/>
                        <a:buFont typeface="Arial"/>
                        <a:buChar char="●"/>
                      </a:pPr>
                      <a:r>
                        <a:t/>
                      </a:r>
                      <a:endParaRPr i="1" sz="700" u="none" cap="none" strike="noStrike">
                        <a:solidFill>
                          <a:srgbClr val="D97706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900"/>
                        <a:buFont typeface="Arial"/>
                        <a:buChar char="●"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D97706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>
                        <a:alpha val="69410"/>
                      </a:srgbClr>
                    </a:solidFill>
                  </a:tcPr>
                </a:tc>
              </a:tr>
              <a:tr h="1758675">
                <a:tc vMerge="1"/>
                <a:tc vMerge="1"/>
                <a:tc vMerge="1"/>
                <a:tc vMerge="1"/>
              </a:tr>
            </a:tbl>
          </a:graphicData>
        </a:graphic>
      </p:graphicFrame>
      <p:sp>
        <p:nvSpPr>
          <p:cNvPr id="415" name="Google Shape;415;p32"/>
          <p:cNvSpPr txBox="1"/>
          <p:nvPr/>
        </p:nvSpPr>
        <p:spPr>
          <a:xfrm>
            <a:off x="152400" y="424116"/>
            <a:ext cx="853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this template to summarize your team’s daily progress, challenges, and next steps. Keep entries concise and outcome-focused.</a:t>
            </a:r>
            <a:endParaRPr b="0" i="1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3"/>
          <p:cNvSpPr txBox="1"/>
          <p:nvPr/>
        </p:nvSpPr>
        <p:spPr>
          <a:xfrm>
            <a:off x="152400" y="148075"/>
            <a:ext cx="5658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" sz="3000" u="none" cap="none" strike="noStrike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Build Phase</a:t>
            </a:r>
            <a:r>
              <a:rPr b="1" i="0" lang="en" sz="3000" u="none" cap="none" strike="noStrike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" sz="3000" u="none" cap="none" strike="noStrike">
                <a:solidFill>
                  <a:srgbClr val="EC0088"/>
                </a:solidFill>
                <a:latin typeface="Open Sans"/>
                <a:ea typeface="Open Sans"/>
                <a:cs typeface="Open Sans"/>
                <a:sym typeface="Open Sans"/>
              </a:rPr>
              <a:t>Daily Report</a:t>
            </a:r>
            <a:endParaRPr b="0" i="0" sz="3000" u="none" cap="none" strike="noStrike">
              <a:solidFill>
                <a:srgbClr val="EC008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421" name="Google Shape;421;p33"/>
          <p:cNvGraphicFramePr/>
          <p:nvPr/>
        </p:nvGraphicFramePr>
        <p:xfrm>
          <a:off x="238775" y="790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{C5E9828B-B9CA-46F0-A7BE-30EB856F67AF}</a:tableStyleId>
              </a:tblPr>
              <a:tblGrid>
                <a:gridCol w="2354775"/>
                <a:gridCol w="2354775"/>
                <a:gridCol w="2354775"/>
                <a:gridCol w="1652750"/>
              </a:tblGrid>
              <a:tr h="28067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&lt;USE CASE TITLE&gt;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 - Day 3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18275" marB="18275" marR="18275" marL="182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088A"/>
                    </a:solidFill>
                  </a:tcPr>
                </a:tc>
                <a:tc hMerge="1"/>
                <a:tc hMerge="1"/>
                <a:tc hMerge="1"/>
              </a:tr>
              <a:tr h="55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EC008C"/>
                          </a:solidFill>
                        </a:rPr>
                        <a:t>Achievements</a:t>
                      </a:r>
                      <a:endParaRPr b="1" sz="900" u="none" cap="none" strike="noStrike">
                        <a:solidFill>
                          <a:srgbClr val="EC008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i="1" lang="en" sz="700" u="none" cap="none" strike="noStrike">
                          <a:solidFill>
                            <a:srgbClr val="999999"/>
                          </a:solidFill>
                        </a:rPr>
                        <a:t>Indicate any achievements gained throughout the day. List what your team built, tested, or validated today.</a:t>
                      </a:r>
                      <a:endParaRPr sz="700" u="none" cap="none" strike="noStrike"/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EC008C"/>
                          </a:solidFill>
                        </a:rPr>
                        <a:t>Challenges</a:t>
                      </a:r>
                      <a:endParaRPr b="1" sz="900" u="none" cap="none" strike="noStrike">
                        <a:solidFill>
                          <a:srgbClr val="EC008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i="1" lang="en" sz="700" u="none" cap="none" strike="noStrike">
                          <a:solidFill>
                            <a:srgbClr val="999999"/>
                          </a:solidFill>
                        </a:rPr>
                        <a:t>Indicate any challenges and/or bottlenecks your team encountered throughout the day</a:t>
                      </a:r>
                      <a:endParaRPr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EC008C"/>
                          </a:solidFill>
                        </a:rPr>
                        <a:t>Future Considerations &amp; lessons learned</a:t>
                      </a:r>
                      <a:endParaRPr b="1" sz="900" u="none" cap="none" strike="noStrike">
                        <a:solidFill>
                          <a:srgbClr val="EC008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i="1" lang="en" sz="700" u="none" cap="none" strike="noStrike">
                          <a:solidFill>
                            <a:srgbClr val="999999"/>
                          </a:solidFill>
                        </a:rPr>
                        <a:t>Specify areas you wish to explore further after the lab, either between the bootcamp and the showcase day or in the long run, what are the lessons learned</a:t>
                      </a:r>
                      <a:endParaRPr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EC008C"/>
                          </a:solidFill>
                        </a:rPr>
                        <a:t>Vector Feedback</a:t>
                      </a:r>
                      <a:endParaRPr b="1" sz="900" u="none" cap="none" strike="noStrike">
                        <a:solidFill>
                          <a:srgbClr val="EC008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700" u="none" cap="none" strike="noStrike">
                          <a:solidFill>
                            <a:srgbClr val="999999"/>
                          </a:solidFill>
                        </a:rPr>
                        <a:t>End-of day feedback from facilitators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>
                        <a:alpha val="69410"/>
                      </a:srgbClr>
                    </a:solidFill>
                  </a:tcPr>
                </a:tc>
              </a:tr>
              <a:tr h="1483125">
                <a:tc>
                  <a:txBody>
                    <a:bodyPr/>
                    <a:lstStyle/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C008C"/>
                        </a:buClr>
                        <a:buSzPts val="900"/>
                        <a:buFont typeface="Arial"/>
                        <a:buChar char="●"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EC008C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C008C"/>
                        </a:buClr>
                        <a:buSzPts val="900"/>
                        <a:buFont typeface="Arial"/>
                        <a:buChar char="●"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EC008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EC008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EC008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EC008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EC008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EC008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EC008C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C008C"/>
                        </a:buClr>
                        <a:buSzPts val="900"/>
                        <a:buFont typeface="Arial"/>
                        <a:buChar char="●"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EC008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EC008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EC008C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C008C"/>
                        </a:buClr>
                        <a:buSzPts val="900"/>
                        <a:buFont typeface="Arial"/>
                        <a:buChar char="●"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EC008C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>
                        <a:alpha val="69410"/>
                      </a:srgbClr>
                    </a:solidFill>
                  </a:tcPr>
                </a:tc>
              </a:tr>
              <a:tr h="178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EC008C"/>
                          </a:solidFill>
                        </a:rPr>
                        <a:t>What Worked Best:</a:t>
                      </a:r>
                      <a:endParaRPr b="1" sz="900" u="none" cap="none" strike="noStrike">
                        <a:solidFill>
                          <a:srgbClr val="EC008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i="1" lang="en" sz="700" u="none" cap="none" strike="noStrike">
                          <a:solidFill>
                            <a:srgbClr val="999999"/>
                          </a:solidFill>
                        </a:rPr>
                        <a:t>Indicate your best model/experiment/implementation/approach which helped your use case achieve the best outcomes</a:t>
                      </a:r>
                      <a:endParaRPr b="1" sz="900" u="none" cap="none" strike="noStrike">
                        <a:solidFill>
                          <a:srgbClr val="3B45E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3B45E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3B45E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3B45E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3B45E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3B45E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3B45E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3B45E3"/>
                        </a:solidFill>
                      </a:endParaRPr>
                    </a:p>
                    <a:p>
                      <a:pPr indent="-228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18275" marB="18275" marR="18275" marL="182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422" name="Google Shape;422;p33"/>
          <p:cNvSpPr txBox="1"/>
          <p:nvPr/>
        </p:nvSpPr>
        <p:spPr>
          <a:xfrm>
            <a:off x="203175" y="507766"/>
            <a:ext cx="853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this template to summarize your team’s daily progress, challenges, and next steps. Keep entries concise and outcome-focused.</a:t>
            </a:r>
            <a:endParaRPr b="0" i="1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